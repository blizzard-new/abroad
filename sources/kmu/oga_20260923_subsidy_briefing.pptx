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95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43412" y="-1743412"/>
            <a:ext cx="3645317" cy="3645317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75476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6160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16844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87527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8211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328895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76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6160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16844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987527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158211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328895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75476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46160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16844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87527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158211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328895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75476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6160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16844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987527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158211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328895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9101100" y="-1188690"/>
            <a:ext cx="3328333" cy="3328333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0131299" y="-792460"/>
            <a:ext cx="2773611" cy="2773611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-1341086" y="5394997"/>
            <a:ext cx="2804090" cy="2804090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26709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597393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768077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938761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1109444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1280128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26709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597393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768077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938761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109444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1280128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426709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597393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768077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938761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1109444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1280128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426709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597393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68077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938761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1109444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1280128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9814315" y="4968287"/>
            <a:ext cx="2560256" cy="2560256"/>
          </a:xfrm>
          <a:prstGeom prst="ellipse">
            <a:avLst/>
          </a:prstGeom>
          <a:solidFill>
            <a:srgbClr val="D78DB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 txBox="1"/>
          <p:nvPr/>
        </p:nvSpPr>
        <p:spPr>
          <a:xfrm>
            <a:off x="914400" y="19659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高雄醫學大學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學生國際研習服務</a:t>
            </a:r>
            <a:endParaRPr lang="en-US" sz="4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獎勵辦法及規定</a:t>
            </a:r>
            <a:endParaRPr lang="en-US" sz="44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" y="438912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Subsidies for KMU Students Studying Abroad /</a:t>
            </a:r>
            <a:endParaRPr lang="en-US" sz="1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Attending International Academic Activities or Internships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國際事務處 學生交流組｜Office of Global Affairs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本日大綱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Agenda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1600200"/>
            <a:ext cx="566928" cy="566928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22860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3063240" y="16002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補助對象與補助額度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286000" y="2377440"/>
            <a:ext cx="566928" cy="566928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22860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3063240" y="2377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286000" y="3154680"/>
            <a:ext cx="566928" cy="566928"/>
          </a:xfrm>
          <a:prstGeom prst="ellipse">
            <a:avLst/>
          </a:prstGeom>
          <a:solidFill>
            <a:srgbClr val="D78DB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228600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3063240" y="31546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申請期程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2286000" y="3931920"/>
            <a:ext cx="566928" cy="56692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228600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3063240" y="39319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「D.8.01 出國研習獎補助系統」操作說明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2286000" y="4709160"/>
            <a:ext cx="566928" cy="566928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228600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3063240" y="47091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返國後應繳資料與經費核銷重點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2286000" y="5486400"/>
            <a:ext cx="566928" cy="566928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2286000" y="5486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3063240" y="5486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常見問題 Q&amp;A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01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D581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補助對象與補助額度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Eligibility &amp; Subsidy Amount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補助對象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1463040" y="150876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1463040" y="1508760"/>
            <a:ext cx="92656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D56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在學學生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063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3063240"/>
            <a:ext cx="98874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出發當下必須具備在學身份：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不論是實習、發表論文或修課，你在國外參加行程的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當下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，都必須具有學籍。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1148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4114800"/>
            <a:ext cx="98874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應屆畢業生特別注意：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例如大四應屆畢業，若出國時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已無學籍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，即不符補助資格，無法請領。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1663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5166360"/>
            <a:ext cx="9887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次數限制：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同一個學制內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僅補助一次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補助額度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1188720" y="1463040"/>
            <a:ext cx="9814255" cy="1143000"/>
          </a:xfrm>
          <a:prstGeom prst="roundRect">
            <a:avLst>
              <a:gd name="adj" fmla="val 8000"/>
            </a:avLst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1188720" y="1463040"/>
            <a:ext cx="9814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D56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補助來回經濟艙機票一張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3017520"/>
            <a:ext cx="98874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不含的艙等：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豪華經濟艙、商務艙、頭等艙均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不在補助範圍內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38404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3840480"/>
            <a:ext cx="98874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若已搭乘上述艙等：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核銷時請提供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當天經濟艙的票價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讓會計室參考；若查無票價可供參考，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恕不予核銷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22960" y="54406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97280" y="5440680"/>
            <a:ext cx="9997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各出國類別的補助上限金額，請見下兩頁對照表。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補助金額上限（一）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0698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學術交流活動與學分課程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45775" cy="3749040"/>
        </p:xfrm>
        <a:graphic>
          <a:graphicData uri="http://schemas.openxmlformats.org/drawingml/2006/table">
            <a:tbl>
              <a:tblPr/>
              <a:tblGrid>
                <a:gridCol w="5061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1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亞洲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非亞洲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國際學術交流／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非落地招待營隊活動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NT$ 6,000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NT$ 12,000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課程有學分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（28 天以下）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NT$ 18,750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NT$ 33,750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2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課程有學分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（28 天（含）以上）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NT$ 30,000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NT$ 52,500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822960" y="55321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＊「亞洲」不含中國大陸、香港、澳門地區。金額適用於出國日期為 115.6.17 之後之申請案件。
＊上表金額為</a:t>
            </a:r>
            <a:r>
              <a:rPr lang="en-US" sz="1500" b="1" i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年結束為止</a:t>
            </a: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之補助標準；之後是否維持現行金額，仍須視學校規劃而定。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補助金額上限（二）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經濟或文化不利學生／論文發表／中港澳學分課程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81328"/>
          <a:ext cx="10545775" cy="3200400"/>
        </p:xfrm>
        <a:graphic>
          <a:graphicData uri="http://schemas.openxmlformats.org/drawingml/2006/table">
            <a:tbl>
              <a:tblPr/>
              <a:tblGrid>
                <a:gridCol w="5061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1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亞洲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非亞洲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D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經濟或文化不利學生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（限中華民國國籍）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NT$ 52,500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NT$ 82,500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論文海報發表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（第一作者／通訊作者）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NT$ 12,000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NT$ 22,500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論文口頭發表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（第一作者／通訊作者）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NT$ 22,500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A39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NT$ 45,000</a:t>
                      </a:r>
                      <a:endParaRPr lang="en-US" sz="18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22960" y="4846320"/>
            <a:ext cx="10545775" cy="566928"/>
          </a:xfrm>
          <a:prstGeom prst="roundRect">
            <a:avLst>
              <a:gd name="adj" fmla="val 9677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 txBox="1"/>
          <p:nvPr/>
        </p:nvSpPr>
        <p:spPr>
          <a:xfrm>
            <a:off x="1097280" y="4846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中國大陸／香港／澳門地區課程有學分（29 天或以上）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991295" y="4846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NT$ 15,000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5321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＊「亞洲」不含中國大陸、香港、澳門地區。申請經濟或文化不利補助標準者，請務必檢附資格證明文件。
＊上表金額為</a:t>
            </a:r>
            <a:r>
              <a:rPr lang="en-US" sz="1500" b="1" i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年結束為止</a:t>
            </a: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之補助標準；之後是否維持現行金額，仍須視學校規劃而定。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02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69B0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Required Documents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應備文件（一）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822960" y="1078992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97280" y="1078992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請依系統跳出的「檔案類別」逐項上傳；系統會依你的出國事由自動帶出需要的項目。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193852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1938528"/>
            <a:ext cx="9887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邀請函（或海外機構同意書）：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請附上有國外實習機構或邀請單位的正式信件。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2706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2706624"/>
            <a:ext cx="9887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論文發表證明：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同上，須為主辦單位出具之正式文件。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34747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3474720"/>
            <a:ext cx="9887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論文摘要：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檢附你的論文摘要即可。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868680" y="42428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1435608" y="4242816"/>
            <a:ext cx="98874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活動行程：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附上由國外機構提供的行程表，行程表上的日期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需與你申請出國的日期相符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" y="52852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1435608" y="5285232"/>
            <a:ext cx="98874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主辦單位簡介：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附上國外學校、論文或研討會主辦單位的簡介，可使用國外學校官網。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應備文件（二）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政府單位經費申請結果證明：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（碩博士班發表論文需檢附）基本上就是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國科會不予補助的證明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，請提供。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514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514600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經濟或文化不利資格證明文件：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申請經濟或文化不利補助標準者檢附。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3429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3429000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歷年成績單：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需有教務處戳章；教務處外面的那台機器可以直接列印。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43434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4343400"/>
            <a:ext cx="988740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法定代理人同意書：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系統上面可自行列印。常有同學問「超過 20 歲還需要嗎？」統一回覆：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一律須檢附，未附者不予受理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——之前發生過家長不知道自己的孩子出國，然後就出事了。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應備文件（三）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語文能力證明：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須達就讀學系畢業門檻，即英檢成績單或校內成績單。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286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286000"/>
            <a:ext cx="988740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課程學分證明：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無學分者免附。基本上是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海外見實習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那個學分；請附上你應修的學分表，並把「海外見實習」這個項目框起來，讓承辦人知道你要抵的是這個學分。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2062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4206240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學生國際研習服務登錄表：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於系統中填寫並列印。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1206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5120640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課程學分證明：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無學分者免附，內容同第 11 項。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應備文件（四）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錄取通知：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請提供會議寄給你的錄取通知。上面的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姓名必須是你本人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，且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會議名稱必須與申請出國事由所填相符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9077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907792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會議議程：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內容同第 4 項活動行程，日期須與申請出國日期相符。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380390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3803904"/>
            <a:ext cx="9887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會議或活動註冊證明：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請提供會議給你的註冊證明。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47000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435608" y="4700016"/>
            <a:ext cx="988740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請假核准單：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請提供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已經請好的假單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，否則請假未完成會拿不到經費。請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不要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提供請假簽呈或系所寫的請假公文——那是拿來讓你去向學校請假的，承辦人無法據此得知你到底有沒有完成請假。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D78DB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D78DB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D78DB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03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D78DB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申請期程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78DB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Application Timeline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申請期程（一）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234440"/>
            <a:ext cx="988740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出國前 3 週：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法規規定「出國前三週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送達國際處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」，並非指前三週在系統上送出即可；申請案須先經系所、教務處課務組審核後，於出國前三週送達國際處系統，否則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一律不予受理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743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743200"/>
            <a:ext cx="98874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申請流程：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申請案須依序通過下列單位簽核：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99032" y="3246120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學院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（承辦人 → 導師 → 系主任 → 國際組組長 → 院長）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68680" y="3758184"/>
            <a:ext cx="384048" cy="384048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8686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399032" y="3739896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教務處註冊課務組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（各院承辦人 → 組長）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58952" y="4197096"/>
            <a:ext cx="10673791" cy="493776"/>
          </a:xfrm>
          <a:prstGeom prst="roundRect">
            <a:avLst>
              <a:gd name="adj" fmla="val 11111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8686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99032" y="4233672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國際事務處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（承辦人 → 組長 → 國際長）</a:t>
            </a:r>
            <a:r>
              <a:rPr lang="en-US" sz="1800" b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　← 需於出國日期三週前送達國際處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68680" y="4745736"/>
            <a:ext cx="384048" cy="384048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86868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99032" y="4727448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高教深耕計畫執行總辦公室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（承辦人 → 企劃組組長 → 副執行長 → 執行長 → 主任）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68680" y="5239512"/>
            <a:ext cx="384048" cy="384048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 txBox="1"/>
          <p:nvPr/>
        </p:nvSpPr>
        <p:spPr>
          <a:xfrm>
            <a:off x="86868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399032" y="5221224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會計室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（承辦人 → 組長 → 主任）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68680" y="5733288"/>
            <a:ext cx="384048" cy="384048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868680" y="5733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1399032" y="5715000"/>
            <a:ext cx="9923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副校長室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（副校長判行）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申請期程（二）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返國後 2 週內：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繳交電子核銷資料。逾期或缺件都會影響你的請款時程，請務必留意。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377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377440"/>
            <a:ext cx="98874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補助類別認定天數：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天數以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出國交流／實習日期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計算，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不算飛行日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（若飛行日與實習日未重疊，以出國交流實習日期為主）；核銷文件及附件須註明哪一天到哪一天上課、發表論文或研討會議程。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3931920"/>
            <a:ext cx="98874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碩、博士生提醒：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建議儘早向政府機構（如國科會）提出申請並取得結果，避免緩繳延誤（大學生不受此限）。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4D56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F4D56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D.8.01 系統操作說明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4D56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學生出國登錄及國際研習獎補助申請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系統操作：步驟 1–2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11887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1188720"/>
            <a:ext cx="3730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登入並新增：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Wac 系統登錄後，進入 </a:t>
            </a: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D.8.01 學生出國登錄及國際研習獎補助申請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，點選「新增」。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3375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3337560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填寫基本資料：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於上方選擇「出國事由」，並填寫基本資料。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868680" y="452628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務必先「</a:t>
            </a:r>
            <a:r>
              <a:rPr lang="en-US" sz="16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選取出國事由，外加輸入西元年份</a:t>
            </a:r>
            <a:r>
              <a:rPr lang="en-US" sz="1600" b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」，才可以存檔、也才查得到先前填過的資料。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Email 請優先填寫學校信箱，以免收信延遲。</a:t>
            </a:r>
            <a:endParaRPr lang="en-US" sz="1600" dirty="0"/>
          </a:p>
        </p:txBody>
      </p:sp>
      <p:pic>
        <p:nvPicPr>
          <p:cNvPr id="36" name="Image 0" descr="/home/claude/v2/sys/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663" y="1143000"/>
            <a:ext cx="5491633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系統操作：步驟 3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143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143000"/>
            <a:ext cx="98874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選「是」後填寫 B 區：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若須申請出國研習服務獎補助，請在「是否申請出國研習服務獎補助」選擇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「是（請繼續填寫 B 區）」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後，接著填寫 B 區。</a:t>
            </a:r>
            <a:endParaRPr lang="en-US" sz="2000" dirty="0"/>
          </a:p>
        </p:txBody>
      </p:sp>
      <p:pic>
        <p:nvPicPr>
          <p:cNvPr id="32" name="Image 0" descr="/home/claude/v2/sys/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28" y="2743200"/>
            <a:ext cx="7979239" cy="283464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005840" y="57607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＊「獎助與否」「核准金額小計」「學院/系所人員審核」等欄位由學院／系所人員填寫，同學不需填。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系統操作：步驟 4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143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143000"/>
            <a:ext cx="98874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存檔後自動帶出必備文件：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填寫完畢並存檔後，系統將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自動帶入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申請出國研習服務補助之必備文件清單——帶出來的項目，就是你要上傳的文件。</a:t>
            </a:r>
            <a:endParaRPr lang="en-US" sz="2000" dirty="0"/>
          </a:p>
        </p:txBody>
      </p:sp>
      <p:pic>
        <p:nvPicPr>
          <p:cNvPr id="32" name="Image 0" descr="/home/claude/v2/sys/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68" y="2743200"/>
            <a:ext cx="7191358" cy="283464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005840" y="57607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＊清單上的編號即對應第 2 章「應備文件」的項目編號。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系統操作：步驟 5–6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2344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234440"/>
            <a:ext cx="98874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上傳文件：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點選上方「上傳文件」，在彈出式視窗中，依必備文件所列項目上傳檔案。</a:t>
            </a:r>
            <a:r>
              <a:rPr lang="en-US" sz="19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建議以電腦開啟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，否則可能無法顯示。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25856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258568"/>
            <a:ext cx="98874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上傳電子檔：</a:t>
            </a:r>
            <a:r>
              <a:rPr lang="en-US" sz="19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選好檔案與「檔案類別」後，點選「上傳電子檔」。</a:t>
            </a:r>
            <a:endParaRPr lang="en-US" sz="1900" dirty="0"/>
          </a:p>
        </p:txBody>
      </p:sp>
      <p:pic>
        <p:nvPicPr>
          <p:cNvPr id="34" name="Image 0" descr="/home/claude/v2/sys/sh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23" y="2834640"/>
            <a:ext cx="7370449" cy="329184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1188720" y="6263640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＊單一檔案上限 10MB，最多 10 個附件，需一次一個上傳；附件說明不可超過 200 個位元。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560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系統操作：步驟 7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1704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170432"/>
            <a:ext cx="988740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存檔送出：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將全數必備文件皆上傳後，請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先回到 B 區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的「申請補助計畫與單位」，在右邊的「學生本人已同意申請並確認金額和附件上傳完成」選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「是」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，然後再回到中間按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「存檔」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，申請單就會送給系／院辦的承辦人進行審核。</a:t>
            </a:r>
            <a:endParaRPr lang="en-US" sz="2000" dirty="0"/>
          </a:p>
        </p:txBody>
      </p:sp>
      <p:pic>
        <p:nvPicPr>
          <p:cNvPr id="32" name="Image 0" descr="/home/claude/v2/sys/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531" y="2743200"/>
            <a:ext cx="8236634" cy="292608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005840" y="587044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＊上圖紅字列即為「學生本人已同意申請並確認金額和附件上傳完成：○否 ○是」，務必選「是」。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05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D581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返國後應繳資料與經費核銷重點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Reimbursement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核銷必備文件（一）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登機證正本：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黏貼於 A4 紙上。若無登機證正本，請申請「搭機證明」替代；若為電子登機證，直接列印即可，不需再貼於 A4 紙上。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9718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971800"/>
            <a:ext cx="98874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行程單：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須有「電子機票（Electronic Ticket）」</a:t>
            </a:r>
            <a:r>
              <a:rPr lang="en-US" sz="2200" dirty="0" err="1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或「Itinerary」字樣，且</a:t>
            </a:r>
            <a:r>
              <a:rPr lang="en-US" sz="2200" b="1" u="sng" dirty="0" err="1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必須包含姓名</a:t>
            </a:r>
            <a:r>
              <a:rPr lang="en-US" sz="2200" dirty="0" err="1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，以</a:t>
            </a:r>
            <a:r>
              <a:rPr lang="en-US" sz="2200" b="1" u="sng" dirty="0" err="1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</a:rPr>
              <a:t>證明為本人行程</a:t>
            </a:r>
            <a:r>
              <a:rPr lang="en-US" sz="2200" dirty="0" err="1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；未顯示姓名者不予受理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297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4297680"/>
            <a:ext cx="988740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購票證明（收據）：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證明是你買了這個機票（行程單上面顯示的機票）。買受人抬頭須為</a:t>
            </a: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高雄醫學大學（統編 76001900）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。若透過國內旅行社代購，購票證明或收據上一定要有此資訊；若自行於網路或國外網站訂購則免。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核銷範例：登機證／搭機證明</a:t>
            </a:r>
            <a:endParaRPr lang="en-US" sz="3000" dirty="0"/>
          </a:p>
        </p:txBody>
      </p:sp>
      <p:pic>
        <p:nvPicPr>
          <p:cNvPr id="30" name="Image 0" descr="/home/claude/v2/imgs/bp_paper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907" y="1097280"/>
            <a:ext cx="4323425" cy="18288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338328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紙本登機證正本 — 黏貼於 A4 紙上</a:t>
            </a:r>
            <a:endParaRPr lang="en-US" sz="1400" dirty="0"/>
          </a:p>
        </p:txBody>
      </p:sp>
      <p:pic>
        <p:nvPicPr>
          <p:cNvPr id="32" name="Image 1" descr="/home/claude/v2/imgs/bp_cert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424" y="3456432"/>
            <a:ext cx="3098961" cy="265176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828800" y="6153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搭機證明 — 無登機證正本時，向航空公司申請</a:t>
            </a:r>
            <a:endParaRPr lang="en-US" sz="1400" dirty="0"/>
          </a:p>
        </p:txBody>
      </p:sp>
      <p:pic>
        <p:nvPicPr>
          <p:cNvPr id="34" name="Image 2" descr="/home/claude/v2/imgs/bp_eticket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748" y="3456432"/>
            <a:ext cx="3862224" cy="2651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080760" y="6153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電子登機證 — 直接列印即可，不需黏貼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核銷範例：行程單</a:t>
            </a:r>
            <a:endParaRPr lang="en-US" sz="3000" dirty="0"/>
          </a:p>
        </p:txBody>
      </p:sp>
      <p:pic>
        <p:nvPicPr>
          <p:cNvPr id="30" name="Image 0" descr="/home/claude/v2/imgs/image1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4" y="1005840"/>
            <a:ext cx="5470956" cy="5623560"/>
          </a:xfrm>
          <a:prstGeom prst="rect">
            <a:avLst/>
          </a:prstGeom>
        </p:spPr>
      </p:pic>
      <p:pic>
        <p:nvPicPr>
          <p:cNvPr id="31" name="Image 1" descr="/home/claude/v2/img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079" y="1664111"/>
            <a:ext cx="6060172" cy="451456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892585" y="3230100"/>
            <a:ext cx="1388980" cy="120417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29"/>
          <p:cNvSpPr/>
          <p:nvPr/>
        </p:nvSpPr>
        <p:spPr>
          <a:xfrm>
            <a:off x="892585" y="5351118"/>
            <a:ext cx="1388979" cy="120417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6669352" y="3519163"/>
            <a:ext cx="1009804" cy="23029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6226668" y="2489701"/>
            <a:ext cx="1045727" cy="466884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66444" y="1107667"/>
            <a:ext cx="1045727" cy="466884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3"/>
          <p:cNvSpPr/>
          <p:nvPr/>
        </p:nvSpPr>
        <p:spPr>
          <a:xfrm>
            <a:off x="6146488" y="4993063"/>
            <a:ext cx="5035726" cy="830195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4"/>
          <p:cNvSpPr/>
          <p:nvPr/>
        </p:nvSpPr>
        <p:spPr>
          <a:xfrm>
            <a:off x="2343906" y="3145530"/>
            <a:ext cx="379352" cy="1204178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核銷範例：購票證明（收據）</a:t>
            </a:r>
            <a:endParaRPr lang="en-US" sz="3000" dirty="0"/>
          </a:p>
        </p:txBody>
      </p:sp>
      <p:pic>
        <p:nvPicPr>
          <p:cNvPr id="30" name="Image 0" descr="/home/claude/v2/img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128" y="1005840"/>
            <a:ext cx="5066618" cy="5623560"/>
          </a:xfrm>
          <a:prstGeom prst="rect">
            <a:avLst/>
          </a:prstGeom>
        </p:spPr>
      </p:pic>
      <p:pic>
        <p:nvPicPr>
          <p:cNvPr id="31" name="Image 1" descr="/home/claude/v2/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30" y="2002102"/>
            <a:ext cx="5329337" cy="3631035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936198" y="3456287"/>
            <a:ext cx="799795" cy="57020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29"/>
          <p:cNvSpPr/>
          <p:nvPr/>
        </p:nvSpPr>
        <p:spPr>
          <a:xfrm>
            <a:off x="9552106" y="3119585"/>
            <a:ext cx="483459" cy="2213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4431987" y="2777352"/>
            <a:ext cx="935475" cy="34223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4410564" y="5290904"/>
            <a:ext cx="935475" cy="792206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8725245" y="4546051"/>
            <a:ext cx="935475" cy="417660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3"/>
          <p:cNvSpPr/>
          <p:nvPr/>
        </p:nvSpPr>
        <p:spPr>
          <a:xfrm>
            <a:off x="6115200" y="2414453"/>
            <a:ext cx="935475" cy="417660"/>
          </a:xfrm>
          <a:prstGeom prst="rect">
            <a:avLst/>
          </a:prstGeom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核銷必備文件（二）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3716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371600"/>
            <a:ext cx="98874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簽收領據：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金額和項目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都先不用寫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，國際處這邊會寫。你要填的是範例圖中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紅框內的區域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——所有欄位都必須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親筆填寫並親筆簽名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。用平板先寫好名字再列印，或用 Word 打字後列印，都不算；電子簽名無法核銷。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29718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2971800"/>
            <a:ext cx="988740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返國報告書：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電子檔（含 4 張實習照片）寄至 </a:t>
            </a: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reachkmu@kmu.edu.tw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（學生交流組信箱）即可，無需繳交紙本。報告書請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據實、認真撰寫，不得敷衍亂寫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；內容空泛、草率或與實際研習無關者，一律退回重寫，並影響你的核銷進度。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49834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581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4983480"/>
            <a:ext cx="988740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視補助計畫可能另需的文件：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「出差旅費報告單」及「因公出國人員搭乘外國籍航空公司班機申請表」。核銷時國際處職員會與你確認是否需要繳交；如需補件，會請你補上。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核銷範例：簽收領據</a:t>
            </a:r>
            <a:endParaRPr lang="en-US" sz="3000" dirty="0"/>
          </a:p>
        </p:txBody>
      </p:sp>
      <p:pic>
        <p:nvPicPr>
          <p:cNvPr id="30" name="Image 0" descr="/home/claude/v2/imgs/receipt_bl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486" y="1097280"/>
            <a:ext cx="3918708" cy="47548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22960" y="5961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空白表單 — 紅框內為你要親筆填寫的欄位</a:t>
            </a:r>
            <a:endParaRPr lang="en-US" sz="1400" dirty="0"/>
          </a:p>
        </p:txBody>
      </p:sp>
      <p:pic>
        <p:nvPicPr>
          <p:cNvPr id="32" name="Image 1" descr="/home/claude/v2/imgs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701" y="1097280"/>
            <a:ext cx="3691958" cy="475488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865994" y="4002439"/>
            <a:ext cx="739648" cy="216457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8869680" y="4002439"/>
            <a:ext cx="391080" cy="216457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9657631" y="4002439"/>
            <a:ext cx="807697" cy="216457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7761024" y="4218896"/>
            <a:ext cx="1200856" cy="216457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3"/>
          <p:cNvSpPr/>
          <p:nvPr/>
        </p:nvSpPr>
        <p:spPr>
          <a:xfrm>
            <a:off x="7864362" y="4464634"/>
            <a:ext cx="2516435" cy="291639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4"/>
          <p:cNvSpPr/>
          <p:nvPr/>
        </p:nvSpPr>
        <p:spPr>
          <a:xfrm>
            <a:off x="8108899" y="4889709"/>
            <a:ext cx="454478" cy="24695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5"/>
          <p:cNvSpPr txBox="1"/>
          <p:nvPr/>
        </p:nvSpPr>
        <p:spPr>
          <a:xfrm>
            <a:off x="6492240" y="5961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填寫範例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核銷範例：因公出國人員搭乘外國籍航空公司班機申請書</a:t>
            </a:r>
            <a:endParaRPr lang="en-US" sz="2600" dirty="0"/>
          </a:p>
        </p:txBody>
      </p:sp>
      <p:pic>
        <p:nvPicPr>
          <p:cNvPr id="30" name="Image 0" descr="/home/claude/v2/img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111" y="1097280"/>
            <a:ext cx="4529297" cy="51206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228100" y="4861189"/>
            <a:ext cx="869828" cy="23310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6640088" y="4858427"/>
            <a:ext cx="869828" cy="23310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3774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核銷範例：出差旅費報告單</a:t>
            </a:r>
            <a:endParaRPr lang="en-US" sz="3000" dirty="0"/>
          </a:p>
        </p:txBody>
      </p:sp>
      <p:pic>
        <p:nvPicPr>
          <p:cNvPr id="30" name="Image 0" descr="/home/claude/v2/img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083" y="1005840"/>
            <a:ext cx="5175529" cy="562356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585521" y="1428234"/>
            <a:ext cx="581993" cy="68446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4128495" y="5616447"/>
            <a:ext cx="974750" cy="68446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經費核銷重點提醒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1600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1600200"/>
            <a:ext cx="988740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務必購買經濟艙：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僅補助臺灣往返出國國別之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經濟艙機票額度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。因部分同學買商務艙回來核銷，若查不到當日經濟艙票價作為參考資料，案件會被會計室退件。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4290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435608" y="3429000"/>
            <a:ext cx="988740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附上校長核准之請假單：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線上或紙本皆可，須</a:t>
            </a:r>
            <a:r>
              <a:rPr lang="en-US" sz="22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核准蓋章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；切勿只附學院請假簽呈（簽呈僅為學校許可公文，不代表已完成請假手續）。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029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1435608" y="5029200"/>
            <a:ext cx="98874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不得重複申請：</a:t>
            </a: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已獲政府單位補助出國者，不得同時申請本獎勵。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-1828754"/>
            <a:ext cx="3901342" cy="3901342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70543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41227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1911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82594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53278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523962" y="365751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70543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41227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11911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82594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353278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523962" y="536435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70543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41227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011911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182594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353278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523962" y="707118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70543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41227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011911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182594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353278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523962" y="877802"/>
            <a:ext cx="54863" cy="54863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241024" y="4785412"/>
            <a:ext cx="3169841" cy="3169841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80160" y="2057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06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3154680" y="2286000"/>
            <a:ext cx="0" cy="914400"/>
          </a:xfrm>
          <a:prstGeom prst="line">
            <a:avLst/>
          </a:prstGeom>
          <a:noFill/>
          <a:ln w="25400">
            <a:solidFill>
              <a:srgbClr val="69B0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20440" y="2103120"/>
            <a:ext cx="7619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常見問題 Q&amp;A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29718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9B0B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Frequently Asked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常見問題 Q&amp;A（一）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8686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1353312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我可以加私人行程嗎？可以在實習結束後，在當地玩兩三天以上再回來嗎？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508760" y="2084832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不行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。本獎勵只補助出國交流／實習的行程，出國期間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不得自行新增私人行程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；擅自延長停留者，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一律不予補助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508760" y="3081528"/>
            <a:ext cx="9814255" cy="1499616"/>
          </a:xfrm>
          <a:prstGeom prst="roundRect">
            <a:avLst>
              <a:gd name="adj" fmla="val 3659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1764792" y="3172968"/>
            <a:ext cx="93021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以下兩種情況最常發生，一律要補上書面說明：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764792" y="35935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2112264" y="3593592"/>
            <a:ext cx="8954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轉機過程中，在該地停留兩到三天以上——</a:t>
            </a:r>
            <a:r>
              <a:rPr lang="en-US" sz="18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必須補上理由與說明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764792" y="40507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2112264" y="4050792"/>
            <a:ext cx="8954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實習結束後隔了四、五天才搭機回國——</a:t>
            </a:r>
            <a:r>
              <a:rPr lang="en-US" sz="18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沒有說明，不予核銷</a:t>
            </a:r>
            <a:r>
              <a:rPr lang="en-US" sz="18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4837176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8686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508760" y="4818888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更改機票的費用可以補助嗎？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868680" y="5294376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86868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1508760" y="5276088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不行。除非是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不可抗力之天候因素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導致航班無法起飛。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1706" y="-871706"/>
            <a:ext cx="1822658" cy="1822658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37738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08422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79106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9789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20473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1157" y="4754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38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08422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9106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49789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20473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91157" y="218231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7738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08422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79106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49789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20473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91157" y="38891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37738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08422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79106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9789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920473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91157" y="55959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646398" y="-594345"/>
            <a:ext cx="1664166" cy="1664166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1161497" y="-396230"/>
            <a:ext cx="1386805" cy="1386805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2743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常見問題 Q&amp;A（二）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868680" y="1261872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8686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1243584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當地住宿費和交通費可以補助嗎？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68680" y="1719072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8686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508760" y="1700784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不行，已請示過黃副。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508760" y="2359152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核銷一定要在兩週內完成嗎？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868680" y="2834640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 txBox="1"/>
          <p:nvPr/>
        </p:nvSpPr>
        <p:spPr>
          <a:xfrm>
            <a:off x="8686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1508760" y="2816352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對。壓兩週是因為有些同學的核銷文件還需要補件，或有缺件的情況；為了讓同學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盡早得知文件有沒有問題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，請在兩週內來核銷。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68680" y="3813048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8686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508760" y="3794760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我一定要預約嗎？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868680" y="4270248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8686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1508760" y="4251960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對。要不然承辦人不在、其他同仁又沒辦法回答你的問題的話，你還需要再多跑一趟。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868680" y="5184648"/>
            <a:ext cx="457200" cy="457200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 txBox="1"/>
          <p:nvPr/>
        </p:nvSpPr>
        <p:spPr>
          <a:xfrm>
            <a:off x="8686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508760" y="5166360"/>
            <a:ext cx="9814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我需要的錢什麼時候會下來？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868680" y="5641848"/>
            <a:ext cx="457200" cy="457200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 txBox="1"/>
          <p:nvPr/>
        </p:nvSpPr>
        <p:spPr>
          <a:xfrm>
            <a:off x="868680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1508760" y="562356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國際處這邊收件後需要作業時間，然後才會把東西送去會計室。至於會計室往後的流程與撥款時程，國際處</a:t>
            </a:r>
            <a:r>
              <a:rPr lang="en-US" sz="2000" b="1" u="sng" dirty="0">
                <a:solidFill>
                  <a:srgbClr val="C000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無法得知進度</a:t>
            </a:r>
            <a:r>
              <a:rPr lang="en-US" sz="20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，請耐心等候。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43412" y="-1743412"/>
            <a:ext cx="3645317" cy="3645317"/>
          </a:xfrm>
          <a:prstGeom prst="ellipse">
            <a:avLst/>
          </a:prstGeom>
          <a:solidFill>
            <a:srgbClr val="F4D56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75476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6160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16844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87527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8211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328895" y="95095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76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6160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16844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987527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158211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328895" y="265779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75476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46160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16844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87527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158211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328895" y="436463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75476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46160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16844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987527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158211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328895" y="607146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9101100" y="-1188690"/>
            <a:ext cx="3328333" cy="3328333"/>
          </a:xfrm>
          <a:prstGeom prst="ellipse">
            <a:avLst/>
          </a:prstGeom>
          <a:solidFill>
            <a:srgbClr val="69B0B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0131299" y="-792460"/>
            <a:ext cx="2773611" cy="2773611"/>
          </a:xfrm>
          <a:prstGeom prst="ellipse">
            <a:avLst/>
          </a:prstGeom>
          <a:solidFill>
            <a:srgbClr val="D581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-1341086" y="5394997"/>
            <a:ext cx="2804090" cy="2804090"/>
          </a:xfrm>
          <a:prstGeom prst="ellipse">
            <a:avLst/>
          </a:prstGeom>
          <a:solidFill>
            <a:srgbClr val="000A3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26709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597393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768077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938761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1109444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1280128" y="5638830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26709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597393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768077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938761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109444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1280128" y="5809514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426709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597393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768077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938761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1109444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1280128" y="5980198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426709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597393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768077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938761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1109444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1280128" y="6150882"/>
            <a:ext cx="54863" cy="548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9814315" y="4968287"/>
            <a:ext cx="2560256" cy="2560256"/>
          </a:xfrm>
          <a:prstGeom prst="ellipse">
            <a:avLst/>
          </a:prstGeom>
          <a:solidFill>
            <a:srgbClr val="D78DB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聯絡我們</a:t>
            </a:r>
            <a:endParaRPr lang="en-US" sz="38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13258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高雄醫學大學 國際事務處 學生交流組 ｜ Office of Global Affairs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320040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校址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4846320" y="2148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高雄市三民區十全一路 100 號　勵學大樓 4F</a:t>
            </a:r>
            <a:endParaRPr lang="en-US" sz="2200" dirty="0"/>
          </a:p>
        </p:txBody>
      </p:sp>
      <p:sp>
        <p:nvSpPr>
          <p:cNvPr id="59" name="Text 57"/>
          <p:cNvSpPr txBox="1"/>
          <p:nvPr/>
        </p:nvSpPr>
        <p:spPr>
          <a:xfrm>
            <a:off x="3200400" y="27523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電話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4846320" y="27523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07-312-1101 分機 2865</a:t>
            </a:r>
            <a:endParaRPr lang="en-US" sz="2200" dirty="0"/>
          </a:p>
        </p:txBody>
      </p:sp>
      <p:sp>
        <p:nvSpPr>
          <p:cNvPr id="61" name="Text 59"/>
          <p:cNvSpPr txBox="1"/>
          <p:nvPr/>
        </p:nvSpPr>
        <p:spPr>
          <a:xfrm>
            <a:off x="3200400" y="3355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傳真</a:t>
            </a:r>
            <a:endParaRPr lang="en-US" sz="2200" dirty="0"/>
          </a:p>
        </p:txBody>
      </p:sp>
      <p:sp>
        <p:nvSpPr>
          <p:cNvPr id="62" name="Text 60"/>
          <p:cNvSpPr txBox="1"/>
          <p:nvPr/>
        </p:nvSpPr>
        <p:spPr>
          <a:xfrm>
            <a:off x="4846320" y="33558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07-322-0004</a:t>
            </a:r>
            <a:endParaRPr lang="en-US" sz="2200" dirty="0"/>
          </a:p>
        </p:txBody>
      </p:sp>
      <p:sp>
        <p:nvSpPr>
          <p:cNvPr id="63" name="Text 61"/>
          <p:cNvSpPr txBox="1"/>
          <p:nvPr/>
        </p:nvSpPr>
        <p:spPr>
          <a:xfrm>
            <a:off x="3200400" y="3959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信箱</a:t>
            </a:r>
            <a:endParaRPr lang="en-US" sz="2200" dirty="0"/>
          </a:p>
        </p:txBody>
      </p:sp>
      <p:sp>
        <p:nvSpPr>
          <p:cNvPr id="64" name="Text 62"/>
          <p:cNvSpPr txBox="1"/>
          <p:nvPr/>
        </p:nvSpPr>
        <p:spPr>
          <a:xfrm>
            <a:off x="4846320" y="39593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reachkmu@kmu.edu.tw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1554480" y="47091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BF0C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4"/>
          <p:cNvSpPr/>
          <p:nvPr/>
        </p:nvSpPr>
        <p:spPr>
          <a:xfrm>
            <a:off x="1874520" y="4882896"/>
            <a:ext cx="292608" cy="2926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 txBox="1"/>
          <p:nvPr/>
        </p:nvSpPr>
        <p:spPr>
          <a:xfrm>
            <a:off x="187452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2286000" y="48554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國際處有權拒絕你的申請。</a:t>
            </a:r>
            <a:endParaRPr lang="en-US" sz="1900" dirty="0"/>
          </a:p>
        </p:txBody>
      </p:sp>
      <p:sp>
        <p:nvSpPr>
          <p:cNvPr id="69" name="Shape 67"/>
          <p:cNvSpPr/>
          <p:nvPr/>
        </p:nvSpPr>
        <p:spPr>
          <a:xfrm>
            <a:off x="1874520" y="5340096"/>
            <a:ext cx="292608" cy="29260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8"/>
          <p:cNvSpPr txBox="1"/>
          <p:nvPr/>
        </p:nvSpPr>
        <p:spPr>
          <a:xfrm>
            <a:off x="1874520" y="5340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2286000" y="53126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國際處保有所有法規之解釋權。</a:t>
            </a:r>
            <a:endParaRPr lang="en-US" sz="1900" dirty="0"/>
          </a:p>
        </p:txBody>
      </p:sp>
      <p:sp>
        <p:nvSpPr>
          <p:cNvPr id="72" name="Text 70"/>
          <p:cNvSpPr txBox="1"/>
          <p:nvPr/>
        </p:nvSpPr>
        <p:spPr>
          <a:xfrm>
            <a:off x="1554480" y="6053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A3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實際補助規定以最新公告版本為準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1216</Words>
  <Application>Microsoft Office PowerPoint</Application>
  <PresentationFormat>寬螢幕</PresentationFormat>
  <Paragraphs>292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8" baseType="lpstr">
      <vt:lpstr>微軟正黑體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學生國際研習服務獎勵辦法及規定</dc:title>
  <dc:subject>PptxGenJS Presentation</dc:subject>
  <dc:creator>高雄醫學大學 國際事務處</dc:creator>
  <cp:lastModifiedBy>Office</cp:lastModifiedBy>
  <cp:revision>2</cp:revision>
  <dcterms:created xsi:type="dcterms:W3CDTF">2026-09-23T07:27:21Z</dcterms:created>
  <dcterms:modified xsi:type="dcterms:W3CDTF">2026-09-23T07:35:41Z</dcterms:modified>
</cp:coreProperties>
</file>