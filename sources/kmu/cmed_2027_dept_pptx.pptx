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62" r:id="rId4"/>
    <p:sldId id="259" r:id="rId5"/>
    <p:sldId id="261" r:id="rId6"/>
    <p:sldId id="260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C22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淺色樣式 1 - 輔色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60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6D8EA9-EE13-48CA-9078-B51BFC154BAA}" type="doc">
      <dgm:prSet loTypeId="urn:microsoft.com/office/officeart/2005/8/layout/hProcess9" loCatId="process" qsTypeId="urn:microsoft.com/office/officeart/2005/8/quickstyle/simple3" qsCatId="simple" csTypeId="urn:microsoft.com/office/officeart/2005/8/colors/colorful5" csCatId="colorful" phldr="1"/>
      <dgm:spPr/>
    </dgm:pt>
    <dgm:pt modelId="{AD1C5FFD-F5FC-4702-8E9B-4ADBFE40AB29}">
      <dgm:prSet phldrT="[文字]" custT="1"/>
      <dgm:spPr/>
      <dgm:t>
        <a:bodyPr/>
        <a:lstStyle/>
        <a:p>
          <a:pPr>
            <a:spcAft>
              <a:spcPts val="0"/>
            </a:spcAft>
          </a:pPr>
          <a:r>
            <a:rPr lang="zh-TW" altLang="en-US" sz="15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簡章公告</a:t>
          </a:r>
        </a:p>
        <a:p>
          <a:pPr>
            <a:spcAft>
              <a:spcPts val="0"/>
            </a:spcAft>
          </a:pPr>
          <a:r>
            <a:rPr lang="zh-TW" altLang="en-US" sz="1500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辦說明會</a:t>
          </a:r>
          <a:endParaRPr lang="en-US" altLang="zh-TW" sz="1500" b="1" dirty="0">
            <a:solidFill>
              <a:srgbClr val="0000FF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>
            <a:spcAft>
              <a:spcPts val="0"/>
            </a:spcAft>
          </a:pPr>
          <a:r>
            <a:rPr lang="zh-TW" altLang="en-US" sz="15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學生報名</a:t>
          </a:r>
        </a:p>
      </dgm:t>
    </dgm:pt>
    <dgm:pt modelId="{7421D732-EC5F-4DAA-A10B-ACA2650C2907}" type="parTrans" cxnId="{F5B44CCB-ADB3-4DDB-8641-E5084775391D}">
      <dgm:prSet/>
      <dgm:spPr/>
      <dgm:t>
        <a:bodyPr/>
        <a:lstStyle/>
        <a:p>
          <a:endParaRPr lang="zh-TW" altLang="en-US" sz="1500"/>
        </a:p>
      </dgm:t>
    </dgm:pt>
    <dgm:pt modelId="{965E9A08-2F31-4539-9189-271F3D9EF217}" type="sibTrans" cxnId="{F5B44CCB-ADB3-4DDB-8641-E5084775391D}">
      <dgm:prSet/>
      <dgm:spPr/>
      <dgm:t>
        <a:bodyPr/>
        <a:lstStyle/>
        <a:p>
          <a:endParaRPr lang="zh-TW" altLang="en-US" sz="1500"/>
        </a:p>
      </dgm:t>
    </dgm:pt>
    <dgm:pt modelId="{E0B6ED77-67D2-4F5B-92AF-84C80C6A650A}">
      <dgm:prSet phldrT="[文字]" custT="1"/>
      <dgm:spPr/>
      <dgm:t>
        <a:bodyPr/>
        <a:lstStyle/>
        <a:p>
          <a:pPr marL="0" indent="0">
            <a:spcAft>
              <a:spcPts val="0"/>
            </a:spcAft>
          </a:pPr>
          <a:r>
            <a:rPr lang="zh-TW" altLang="en-US" sz="1800" b="1">
              <a:latin typeface="微軟正黑體" panose="020B0604030504040204" pitchFamily="34" charset="-120"/>
              <a:ea typeface="微軟正黑體" panose="020B0604030504040204" pitchFamily="34" charset="-120"/>
            </a:rPr>
            <a:t>書審  面試</a:t>
          </a:r>
        </a:p>
      </dgm:t>
    </dgm:pt>
    <dgm:pt modelId="{6C29D98B-53DA-453E-A8F7-23BA0F10EE3D}" type="parTrans" cxnId="{94B52646-7AF6-4EEE-B0BB-DACA6AADC731}">
      <dgm:prSet/>
      <dgm:spPr/>
      <dgm:t>
        <a:bodyPr/>
        <a:lstStyle/>
        <a:p>
          <a:endParaRPr lang="zh-TW" altLang="en-US" sz="1500"/>
        </a:p>
      </dgm:t>
    </dgm:pt>
    <dgm:pt modelId="{69BAF37B-283D-42EC-B914-FF994A1D1C37}" type="sibTrans" cxnId="{94B52646-7AF6-4EEE-B0BB-DACA6AADC731}">
      <dgm:prSet/>
      <dgm:spPr/>
      <dgm:t>
        <a:bodyPr/>
        <a:lstStyle/>
        <a:p>
          <a:endParaRPr lang="zh-TW" altLang="en-US" sz="1500"/>
        </a:p>
      </dgm:t>
    </dgm:pt>
    <dgm:pt modelId="{CEB0AE7B-CA62-488E-A140-72FF2C397BD2}">
      <dgm:prSet phldrT="[文字]" custT="1"/>
      <dgm:spPr/>
      <dgm:t>
        <a:bodyPr/>
        <a:lstStyle/>
        <a:p>
          <a:pPr>
            <a:spcAft>
              <a:spcPts val="0"/>
            </a:spcAft>
          </a:pPr>
          <a:r>
            <a:rPr lang="zh-TW" altLang="en-US" sz="1600" b="1">
              <a:latin typeface="微軟正黑體" panose="020B0604030504040204" pitchFamily="34" charset="-120"/>
              <a:ea typeface="微軟正黑體" panose="020B0604030504040204" pitchFamily="34" charset="-120"/>
            </a:rPr>
            <a:t>志願序</a:t>
          </a:r>
          <a:r>
            <a:rPr lang="zh-TW" altLang="en-US" sz="1500" b="1">
              <a:latin typeface="微軟正黑體" panose="020B0604030504040204" pitchFamily="34" charset="-120"/>
              <a:ea typeface="微軟正黑體" panose="020B0604030504040204" pitchFamily="34" charset="-120"/>
            </a:rPr>
            <a:t>繳交</a:t>
          </a:r>
          <a:endParaRPr lang="en-US" altLang="zh-TW" sz="1500" b="1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>
            <a:spcAft>
              <a:spcPts val="0"/>
            </a:spcAft>
          </a:pPr>
          <a:r>
            <a:rPr lang="zh-TW" altLang="en-US" sz="1500" b="1">
              <a:latin typeface="微軟正黑體" panose="020B0604030504040204" pitchFamily="34" charset="-120"/>
              <a:ea typeface="微軟正黑體" panose="020B0604030504040204" pitchFamily="34" charset="-120"/>
            </a:rPr>
            <a:t>甄選</a:t>
          </a:r>
          <a:r>
            <a:rPr lang="zh-TW" altLang="en-US" sz="1600" b="1">
              <a:latin typeface="微軟正黑體" panose="020B0604030504040204" pitchFamily="34" charset="-120"/>
              <a:ea typeface="微軟正黑體" panose="020B0604030504040204" pitchFamily="34" charset="-120"/>
            </a:rPr>
            <a:t>結果公告</a:t>
          </a:r>
          <a:endParaRPr lang="zh-TW" altLang="en-US" sz="15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33324C6-E6C5-462A-B679-BA200CBB9E0B}" type="parTrans" cxnId="{6D1C0F00-6F48-45E6-A15C-83673E9CA90F}">
      <dgm:prSet/>
      <dgm:spPr/>
      <dgm:t>
        <a:bodyPr/>
        <a:lstStyle/>
        <a:p>
          <a:endParaRPr lang="zh-TW" altLang="en-US" sz="1500"/>
        </a:p>
      </dgm:t>
    </dgm:pt>
    <dgm:pt modelId="{FCA18A37-94B7-4C63-AB98-6D988323338A}" type="sibTrans" cxnId="{6D1C0F00-6F48-45E6-A15C-83673E9CA90F}">
      <dgm:prSet/>
      <dgm:spPr/>
      <dgm:t>
        <a:bodyPr/>
        <a:lstStyle/>
        <a:p>
          <a:endParaRPr lang="zh-TW" altLang="en-US" sz="1500"/>
        </a:p>
      </dgm:t>
    </dgm:pt>
    <dgm:pt modelId="{33357FA4-9954-4CEF-A116-7BE3CC7A5CE7}">
      <dgm:prSet phldrT="[文字]" custT="1"/>
      <dgm:spPr/>
      <dgm:t>
        <a:bodyPr/>
        <a:lstStyle/>
        <a:p>
          <a:pPr>
            <a:spcAft>
              <a:spcPts val="0"/>
            </a:spcAft>
          </a:pPr>
          <a:r>
            <a:rPr lang="zh-TW" altLang="en-US" sz="1500" b="1">
              <a:latin typeface="微軟正黑體" panose="020B0604030504040204" pitchFamily="34" charset="-120"/>
              <a:ea typeface="微軟正黑體" panose="020B0604030504040204" pitchFamily="34" charset="-120"/>
            </a:rPr>
            <a:t>交薦送表</a:t>
          </a:r>
          <a:endParaRPr lang="en-US" altLang="zh-TW" sz="1500" b="1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>
            <a:spcAft>
              <a:spcPts val="0"/>
            </a:spcAft>
          </a:pPr>
          <a:r>
            <a:rPr lang="zh-TW" altLang="en-US" sz="1500" b="1">
              <a:latin typeface="微軟正黑體" panose="020B0604030504040204" pitchFamily="34" charset="-120"/>
              <a:ea typeface="微軟正黑體" panose="020B0604030504040204" pitchFamily="34" charset="-120"/>
            </a:rPr>
            <a:t>向姐妹校</a:t>
          </a:r>
          <a:br>
            <a:rPr lang="en-US" altLang="zh-TW" sz="1500" b="1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1500" b="1">
              <a:latin typeface="微軟正黑體" panose="020B0604030504040204" pitchFamily="34" charset="-120"/>
              <a:ea typeface="微軟正黑體" panose="020B0604030504040204" pitchFamily="34" charset="-120"/>
            </a:rPr>
            <a:t>薦送學生</a:t>
          </a:r>
          <a:endParaRPr lang="en-US" altLang="zh-TW" sz="1500" b="1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>
            <a:spcAft>
              <a:spcPts val="0"/>
            </a:spcAft>
          </a:pPr>
          <a:r>
            <a:rPr lang="zh-TW" altLang="en-US" sz="1500" b="1">
              <a:latin typeface="微軟正黑體" panose="020B0604030504040204" pitchFamily="34" charset="-120"/>
              <a:ea typeface="微軟正黑體" panose="020B0604030504040204" pitchFamily="34" charset="-120"/>
            </a:rPr>
            <a:t>確認薦送結果</a:t>
          </a:r>
        </a:p>
      </dgm:t>
    </dgm:pt>
    <dgm:pt modelId="{3E4F8F93-FD6C-458E-ACB4-28CFB3CC8FB8}" type="parTrans" cxnId="{44879F8B-53C1-4055-9132-D26C88988E82}">
      <dgm:prSet/>
      <dgm:spPr/>
      <dgm:t>
        <a:bodyPr/>
        <a:lstStyle/>
        <a:p>
          <a:endParaRPr lang="zh-TW" altLang="en-US" sz="1500"/>
        </a:p>
      </dgm:t>
    </dgm:pt>
    <dgm:pt modelId="{0A119ABE-8B7C-4E09-B2CB-7C76344FC8D8}" type="sibTrans" cxnId="{44879F8B-53C1-4055-9132-D26C88988E82}">
      <dgm:prSet/>
      <dgm:spPr/>
      <dgm:t>
        <a:bodyPr/>
        <a:lstStyle/>
        <a:p>
          <a:endParaRPr lang="zh-TW" altLang="en-US" sz="1500"/>
        </a:p>
      </dgm:t>
    </dgm:pt>
    <dgm:pt modelId="{125E1183-B9A5-46EE-93E3-F98EDE289269}">
      <dgm:prSet phldrT="[文字]" custT="1"/>
      <dgm:spPr/>
      <dgm:t>
        <a:bodyPr/>
        <a:lstStyle/>
        <a:p>
          <a:pPr>
            <a:spcAft>
              <a:spcPts val="0"/>
            </a:spcAft>
          </a:pPr>
          <a:r>
            <a:rPr lang="zh-TW" altLang="en-US" sz="1500" b="1">
              <a:latin typeface="微軟正黑體" panose="020B0604030504040204" pitchFamily="34" charset="-120"/>
              <a:ea typeface="微軟正黑體" panose="020B0604030504040204" pitchFamily="34" charset="-120"/>
            </a:rPr>
            <a:t>學生交申請資料</a:t>
          </a:r>
          <a:r>
            <a:rPr lang="en-US" altLang="zh-TW" sz="15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(</a:t>
          </a:r>
          <a:r>
            <a:rPr lang="zh-TW" altLang="en-US" sz="1500" b="1">
              <a:latin typeface="微軟正黑體" panose="020B0604030504040204" pitchFamily="34" charset="-120"/>
              <a:ea typeface="微軟正黑體" panose="020B0604030504040204" pitchFamily="34" charset="-120"/>
            </a:rPr>
            <a:t>含體檢等</a:t>
          </a:r>
          <a:r>
            <a:rPr lang="en-US" altLang="zh-TW" sz="15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)</a:t>
          </a:r>
          <a:r>
            <a:rPr lang="zh-TW" altLang="en-US" sz="1500" b="1">
              <a:latin typeface="微軟正黑體" panose="020B0604030504040204" pitchFamily="34" charset="-120"/>
              <a:ea typeface="微軟正黑體" panose="020B0604030504040204" pitchFamily="34" charset="-120"/>
            </a:rPr>
            <a:t>給姐妹校</a:t>
          </a:r>
        </a:p>
      </dgm:t>
    </dgm:pt>
    <dgm:pt modelId="{4B1AAC91-CD35-4CF7-831B-F17D2D32DE43}" type="parTrans" cxnId="{9E8D13FE-5108-4FE1-8040-4E4907903E0B}">
      <dgm:prSet/>
      <dgm:spPr/>
      <dgm:t>
        <a:bodyPr/>
        <a:lstStyle/>
        <a:p>
          <a:endParaRPr lang="zh-TW" altLang="en-US" sz="1500"/>
        </a:p>
      </dgm:t>
    </dgm:pt>
    <dgm:pt modelId="{C4A09121-A0A7-40D5-8D16-0A7F75800849}" type="sibTrans" cxnId="{9E8D13FE-5108-4FE1-8040-4E4907903E0B}">
      <dgm:prSet/>
      <dgm:spPr/>
      <dgm:t>
        <a:bodyPr/>
        <a:lstStyle/>
        <a:p>
          <a:endParaRPr lang="zh-TW" altLang="en-US" sz="1500"/>
        </a:p>
      </dgm:t>
    </dgm:pt>
    <dgm:pt modelId="{69ECA9E4-7D1B-41BD-AE73-B16887867267}">
      <dgm:prSet phldrT="[文字]" custT="1"/>
      <dgm:spPr/>
      <dgm:t>
        <a:bodyPr/>
        <a:lstStyle/>
        <a:p>
          <a:pPr>
            <a:spcAft>
              <a:spcPts val="0"/>
            </a:spcAft>
          </a:pPr>
          <a:r>
            <a:rPr lang="zh-TW" altLang="en-US" sz="15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交實習成績</a:t>
          </a:r>
          <a:br>
            <a:rPr lang="en-US" altLang="zh-TW" sz="1500" b="1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15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心得報告</a:t>
          </a:r>
          <a:r>
            <a:rPr lang="en-US" altLang="zh-TW" sz="15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+</a:t>
          </a:r>
        </a:p>
        <a:p>
          <a:pPr>
            <a:spcAft>
              <a:spcPts val="0"/>
            </a:spcAft>
          </a:pPr>
          <a:r>
            <a:rPr lang="zh-TW" altLang="en-US" sz="15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照片</a:t>
          </a:r>
        </a:p>
      </dgm:t>
    </dgm:pt>
    <dgm:pt modelId="{3B58E905-FCA4-45CF-921D-4112BB11035A}" type="parTrans" cxnId="{B6228C01-AF69-4A42-BEA0-94CD83638ADC}">
      <dgm:prSet/>
      <dgm:spPr/>
      <dgm:t>
        <a:bodyPr/>
        <a:lstStyle/>
        <a:p>
          <a:endParaRPr lang="zh-TW" altLang="en-US" sz="1500"/>
        </a:p>
      </dgm:t>
    </dgm:pt>
    <dgm:pt modelId="{AC7DB025-364D-4CBF-A414-E6EA7CD87331}" type="sibTrans" cxnId="{B6228C01-AF69-4A42-BEA0-94CD83638ADC}">
      <dgm:prSet/>
      <dgm:spPr/>
      <dgm:t>
        <a:bodyPr/>
        <a:lstStyle/>
        <a:p>
          <a:endParaRPr lang="zh-TW" altLang="en-US" sz="1500"/>
        </a:p>
      </dgm:t>
    </dgm:pt>
    <dgm:pt modelId="{EF963FC3-7DA7-438D-848F-621700C1588C}" type="pres">
      <dgm:prSet presAssocID="{B26D8EA9-EE13-48CA-9078-B51BFC154BAA}" presName="CompostProcess" presStyleCnt="0">
        <dgm:presLayoutVars>
          <dgm:dir/>
          <dgm:resizeHandles val="exact"/>
        </dgm:presLayoutVars>
      </dgm:prSet>
      <dgm:spPr/>
    </dgm:pt>
    <dgm:pt modelId="{3A36D924-3DD3-44BB-A8EC-064D35ED5387}" type="pres">
      <dgm:prSet presAssocID="{B26D8EA9-EE13-48CA-9078-B51BFC154BAA}" presName="arrow" presStyleLbl="bgShp" presStyleIdx="0" presStyleCnt="1" custLinFactNeighborX="1121" custLinFactNeighborY="-9615"/>
      <dgm:spPr/>
    </dgm:pt>
    <dgm:pt modelId="{A34D1E7C-2E7C-49B5-801E-F462642E5D0B}" type="pres">
      <dgm:prSet presAssocID="{B26D8EA9-EE13-48CA-9078-B51BFC154BAA}" presName="linearProcess" presStyleCnt="0"/>
      <dgm:spPr/>
    </dgm:pt>
    <dgm:pt modelId="{81E4FBD5-55CC-4A0A-9DCD-E73D892CB179}" type="pres">
      <dgm:prSet presAssocID="{AD1C5FFD-F5FC-4702-8E9B-4ADBFE40AB29}" presName="textNode" presStyleLbl="node1" presStyleIdx="0" presStyleCnt="6">
        <dgm:presLayoutVars>
          <dgm:bulletEnabled val="1"/>
        </dgm:presLayoutVars>
      </dgm:prSet>
      <dgm:spPr/>
    </dgm:pt>
    <dgm:pt modelId="{D38D28B6-3ECA-4AB3-AD01-EF18AC6D8B03}" type="pres">
      <dgm:prSet presAssocID="{965E9A08-2F31-4539-9189-271F3D9EF217}" presName="sibTrans" presStyleCnt="0"/>
      <dgm:spPr/>
    </dgm:pt>
    <dgm:pt modelId="{14CCFB7D-306B-4F88-B518-93F42C0D41D0}" type="pres">
      <dgm:prSet presAssocID="{E0B6ED77-67D2-4F5B-92AF-84C80C6A650A}" presName="textNode" presStyleLbl="node1" presStyleIdx="1" presStyleCnt="6" custScaleX="116621">
        <dgm:presLayoutVars>
          <dgm:bulletEnabled val="1"/>
        </dgm:presLayoutVars>
      </dgm:prSet>
      <dgm:spPr/>
    </dgm:pt>
    <dgm:pt modelId="{FA2E3FAB-0C65-4114-94F4-89A85EB10A15}" type="pres">
      <dgm:prSet presAssocID="{69BAF37B-283D-42EC-B914-FF994A1D1C37}" presName="sibTrans" presStyleCnt="0"/>
      <dgm:spPr/>
    </dgm:pt>
    <dgm:pt modelId="{21549CCE-DB3C-46CC-A461-3EA5ACEF0A83}" type="pres">
      <dgm:prSet presAssocID="{CEB0AE7B-CA62-488E-A140-72FF2C397BD2}" presName="textNode" presStyleLbl="node1" presStyleIdx="2" presStyleCnt="6" custScaleX="120155">
        <dgm:presLayoutVars>
          <dgm:bulletEnabled val="1"/>
        </dgm:presLayoutVars>
      </dgm:prSet>
      <dgm:spPr/>
    </dgm:pt>
    <dgm:pt modelId="{4E013673-A83B-41D9-8871-4ED61E121E19}" type="pres">
      <dgm:prSet presAssocID="{FCA18A37-94B7-4C63-AB98-6D988323338A}" presName="sibTrans" presStyleCnt="0"/>
      <dgm:spPr/>
    </dgm:pt>
    <dgm:pt modelId="{ABCE3CE2-1693-497B-A27F-BEE737E1D8A7}" type="pres">
      <dgm:prSet presAssocID="{33357FA4-9954-4CEF-A116-7BE3CC7A5CE7}" presName="textNode" presStyleLbl="node1" presStyleIdx="3" presStyleCnt="6" custScaleX="115192">
        <dgm:presLayoutVars>
          <dgm:bulletEnabled val="1"/>
        </dgm:presLayoutVars>
      </dgm:prSet>
      <dgm:spPr/>
    </dgm:pt>
    <dgm:pt modelId="{9BA77A32-1164-4DD5-AD79-5D00D3F26D8E}" type="pres">
      <dgm:prSet presAssocID="{0A119ABE-8B7C-4E09-B2CB-7C76344FC8D8}" presName="sibTrans" presStyleCnt="0"/>
      <dgm:spPr/>
    </dgm:pt>
    <dgm:pt modelId="{66C2C5BE-CCE7-47D6-A009-F3080EE6D979}" type="pres">
      <dgm:prSet presAssocID="{125E1183-B9A5-46EE-93E3-F98EDE289269}" presName="textNode" presStyleLbl="node1" presStyleIdx="4" presStyleCnt="6">
        <dgm:presLayoutVars>
          <dgm:bulletEnabled val="1"/>
        </dgm:presLayoutVars>
      </dgm:prSet>
      <dgm:spPr/>
    </dgm:pt>
    <dgm:pt modelId="{B4D71505-D5AA-44E4-9325-A29B75EDF1E1}" type="pres">
      <dgm:prSet presAssocID="{C4A09121-A0A7-40D5-8D16-0A7F75800849}" presName="sibTrans" presStyleCnt="0"/>
      <dgm:spPr/>
    </dgm:pt>
    <dgm:pt modelId="{14D84AAA-9106-4277-84BC-DD2962A11A77}" type="pres">
      <dgm:prSet presAssocID="{69ECA9E4-7D1B-41BD-AE73-B16887867267}" presName="textNode" presStyleLbl="node1" presStyleIdx="5" presStyleCnt="6" custScaleX="107207">
        <dgm:presLayoutVars>
          <dgm:bulletEnabled val="1"/>
        </dgm:presLayoutVars>
      </dgm:prSet>
      <dgm:spPr/>
    </dgm:pt>
  </dgm:ptLst>
  <dgm:cxnLst>
    <dgm:cxn modelId="{6D1C0F00-6F48-45E6-A15C-83673E9CA90F}" srcId="{B26D8EA9-EE13-48CA-9078-B51BFC154BAA}" destId="{CEB0AE7B-CA62-488E-A140-72FF2C397BD2}" srcOrd="2" destOrd="0" parTransId="{D33324C6-E6C5-462A-B679-BA200CBB9E0B}" sibTransId="{FCA18A37-94B7-4C63-AB98-6D988323338A}"/>
    <dgm:cxn modelId="{B6228C01-AF69-4A42-BEA0-94CD83638ADC}" srcId="{B26D8EA9-EE13-48CA-9078-B51BFC154BAA}" destId="{69ECA9E4-7D1B-41BD-AE73-B16887867267}" srcOrd="5" destOrd="0" parTransId="{3B58E905-FCA4-45CF-921D-4112BB11035A}" sibTransId="{AC7DB025-364D-4CBF-A414-E6EA7CD87331}"/>
    <dgm:cxn modelId="{E423A730-F452-43BD-A2C7-87EC0E91BBFC}" type="presOf" srcId="{B26D8EA9-EE13-48CA-9078-B51BFC154BAA}" destId="{EF963FC3-7DA7-438D-848F-621700C1588C}" srcOrd="0" destOrd="0" presId="urn:microsoft.com/office/officeart/2005/8/layout/hProcess9"/>
    <dgm:cxn modelId="{CC3A395F-D8E2-436E-9E12-DEBF38FCD039}" type="presOf" srcId="{AD1C5FFD-F5FC-4702-8E9B-4ADBFE40AB29}" destId="{81E4FBD5-55CC-4A0A-9DCD-E73D892CB179}" srcOrd="0" destOrd="0" presId="urn:microsoft.com/office/officeart/2005/8/layout/hProcess9"/>
    <dgm:cxn modelId="{94B52646-7AF6-4EEE-B0BB-DACA6AADC731}" srcId="{B26D8EA9-EE13-48CA-9078-B51BFC154BAA}" destId="{E0B6ED77-67D2-4F5B-92AF-84C80C6A650A}" srcOrd="1" destOrd="0" parTransId="{6C29D98B-53DA-453E-A8F7-23BA0F10EE3D}" sibTransId="{69BAF37B-283D-42EC-B914-FF994A1D1C37}"/>
    <dgm:cxn modelId="{DAC6C458-5428-4652-8878-22F0E1DE2CDB}" type="presOf" srcId="{69ECA9E4-7D1B-41BD-AE73-B16887867267}" destId="{14D84AAA-9106-4277-84BC-DD2962A11A77}" srcOrd="0" destOrd="0" presId="urn:microsoft.com/office/officeart/2005/8/layout/hProcess9"/>
    <dgm:cxn modelId="{32D37285-CC7B-4BA3-9CD7-8B070D24E7A0}" type="presOf" srcId="{E0B6ED77-67D2-4F5B-92AF-84C80C6A650A}" destId="{14CCFB7D-306B-4F88-B518-93F42C0D41D0}" srcOrd="0" destOrd="0" presId="urn:microsoft.com/office/officeart/2005/8/layout/hProcess9"/>
    <dgm:cxn modelId="{25A9A388-CA6D-4A18-96FD-20C27F0B4C54}" type="presOf" srcId="{125E1183-B9A5-46EE-93E3-F98EDE289269}" destId="{66C2C5BE-CCE7-47D6-A009-F3080EE6D979}" srcOrd="0" destOrd="0" presId="urn:microsoft.com/office/officeart/2005/8/layout/hProcess9"/>
    <dgm:cxn modelId="{44879F8B-53C1-4055-9132-D26C88988E82}" srcId="{B26D8EA9-EE13-48CA-9078-B51BFC154BAA}" destId="{33357FA4-9954-4CEF-A116-7BE3CC7A5CE7}" srcOrd="3" destOrd="0" parTransId="{3E4F8F93-FD6C-458E-ACB4-28CFB3CC8FB8}" sibTransId="{0A119ABE-8B7C-4E09-B2CB-7C76344FC8D8}"/>
    <dgm:cxn modelId="{9913F98D-FCA6-40B0-9D67-84059D3F0573}" type="presOf" srcId="{33357FA4-9954-4CEF-A116-7BE3CC7A5CE7}" destId="{ABCE3CE2-1693-497B-A27F-BEE737E1D8A7}" srcOrd="0" destOrd="0" presId="urn:microsoft.com/office/officeart/2005/8/layout/hProcess9"/>
    <dgm:cxn modelId="{F5B44CCB-ADB3-4DDB-8641-E5084775391D}" srcId="{B26D8EA9-EE13-48CA-9078-B51BFC154BAA}" destId="{AD1C5FFD-F5FC-4702-8E9B-4ADBFE40AB29}" srcOrd="0" destOrd="0" parTransId="{7421D732-EC5F-4DAA-A10B-ACA2650C2907}" sibTransId="{965E9A08-2F31-4539-9189-271F3D9EF217}"/>
    <dgm:cxn modelId="{05A3E9DA-8B36-488F-A888-E4447E5133F9}" type="presOf" srcId="{CEB0AE7B-CA62-488E-A140-72FF2C397BD2}" destId="{21549CCE-DB3C-46CC-A461-3EA5ACEF0A83}" srcOrd="0" destOrd="0" presId="urn:microsoft.com/office/officeart/2005/8/layout/hProcess9"/>
    <dgm:cxn modelId="{9E8D13FE-5108-4FE1-8040-4E4907903E0B}" srcId="{B26D8EA9-EE13-48CA-9078-B51BFC154BAA}" destId="{125E1183-B9A5-46EE-93E3-F98EDE289269}" srcOrd="4" destOrd="0" parTransId="{4B1AAC91-CD35-4CF7-831B-F17D2D32DE43}" sibTransId="{C4A09121-A0A7-40D5-8D16-0A7F75800849}"/>
    <dgm:cxn modelId="{EEFE38FA-CF71-46A8-B64A-ECEA13485315}" type="presParOf" srcId="{EF963FC3-7DA7-438D-848F-621700C1588C}" destId="{3A36D924-3DD3-44BB-A8EC-064D35ED5387}" srcOrd="0" destOrd="0" presId="urn:microsoft.com/office/officeart/2005/8/layout/hProcess9"/>
    <dgm:cxn modelId="{703A233A-F1D4-49DD-A028-6471F52E0C22}" type="presParOf" srcId="{EF963FC3-7DA7-438D-848F-621700C1588C}" destId="{A34D1E7C-2E7C-49B5-801E-F462642E5D0B}" srcOrd="1" destOrd="0" presId="urn:microsoft.com/office/officeart/2005/8/layout/hProcess9"/>
    <dgm:cxn modelId="{6A349E37-50A3-41D1-BC56-8051A049C5B6}" type="presParOf" srcId="{A34D1E7C-2E7C-49B5-801E-F462642E5D0B}" destId="{81E4FBD5-55CC-4A0A-9DCD-E73D892CB179}" srcOrd="0" destOrd="0" presId="urn:microsoft.com/office/officeart/2005/8/layout/hProcess9"/>
    <dgm:cxn modelId="{65DCB8CD-FBC9-4241-A8CE-E0734DF5A914}" type="presParOf" srcId="{A34D1E7C-2E7C-49B5-801E-F462642E5D0B}" destId="{D38D28B6-3ECA-4AB3-AD01-EF18AC6D8B03}" srcOrd="1" destOrd="0" presId="urn:microsoft.com/office/officeart/2005/8/layout/hProcess9"/>
    <dgm:cxn modelId="{59FEF8A4-597B-4CE6-913A-8F184B6D623C}" type="presParOf" srcId="{A34D1E7C-2E7C-49B5-801E-F462642E5D0B}" destId="{14CCFB7D-306B-4F88-B518-93F42C0D41D0}" srcOrd="2" destOrd="0" presId="urn:microsoft.com/office/officeart/2005/8/layout/hProcess9"/>
    <dgm:cxn modelId="{A0784590-5F71-4761-BB7A-97822A9D3F18}" type="presParOf" srcId="{A34D1E7C-2E7C-49B5-801E-F462642E5D0B}" destId="{FA2E3FAB-0C65-4114-94F4-89A85EB10A15}" srcOrd="3" destOrd="0" presId="urn:microsoft.com/office/officeart/2005/8/layout/hProcess9"/>
    <dgm:cxn modelId="{370058DB-EE73-49E9-82F4-919F11469D3C}" type="presParOf" srcId="{A34D1E7C-2E7C-49B5-801E-F462642E5D0B}" destId="{21549CCE-DB3C-46CC-A461-3EA5ACEF0A83}" srcOrd="4" destOrd="0" presId="urn:microsoft.com/office/officeart/2005/8/layout/hProcess9"/>
    <dgm:cxn modelId="{1A69A5F1-F83E-4B96-A24D-4C94280695BA}" type="presParOf" srcId="{A34D1E7C-2E7C-49B5-801E-F462642E5D0B}" destId="{4E013673-A83B-41D9-8871-4ED61E121E19}" srcOrd="5" destOrd="0" presId="urn:microsoft.com/office/officeart/2005/8/layout/hProcess9"/>
    <dgm:cxn modelId="{C1169E08-768E-4404-ABCF-07352D6DCC75}" type="presParOf" srcId="{A34D1E7C-2E7C-49B5-801E-F462642E5D0B}" destId="{ABCE3CE2-1693-497B-A27F-BEE737E1D8A7}" srcOrd="6" destOrd="0" presId="urn:microsoft.com/office/officeart/2005/8/layout/hProcess9"/>
    <dgm:cxn modelId="{0C855C91-F435-4986-AED3-050E58F2A251}" type="presParOf" srcId="{A34D1E7C-2E7C-49B5-801E-F462642E5D0B}" destId="{9BA77A32-1164-4DD5-AD79-5D00D3F26D8E}" srcOrd="7" destOrd="0" presId="urn:microsoft.com/office/officeart/2005/8/layout/hProcess9"/>
    <dgm:cxn modelId="{E0F01624-9BDE-4C1A-AE8B-A54AAA1CEEA3}" type="presParOf" srcId="{A34D1E7C-2E7C-49B5-801E-F462642E5D0B}" destId="{66C2C5BE-CCE7-47D6-A009-F3080EE6D979}" srcOrd="8" destOrd="0" presId="urn:microsoft.com/office/officeart/2005/8/layout/hProcess9"/>
    <dgm:cxn modelId="{BA0D88F3-3837-404F-A688-AA6BD098605A}" type="presParOf" srcId="{A34D1E7C-2E7C-49B5-801E-F462642E5D0B}" destId="{B4D71505-D5AA-44E4-9325-A29B75EDF1E1}" srcOrd="9" destOrd="0" presId="urn:microsoft.com/office/officeart/2005/8/layout/hProcess9"/>
    <dgm:cxn modelId="{794C4C43-DAC2-4F55-BEB0-FD72DC94BF04}" type="presParOf" srcId="{A34D1E7C-2E7C-49B5-801E-F462642E5D0B}" destId="{14D84AAA-9106-4277-84BC-DD2962A11A77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36D924-3DD3-44BB-A8EC-064D35ED5387}">
      <dsp:nvSpPr>
        <dsp:cNvPr id="0" name=""/>
        <dsp:cNvSpPr/>
      </dsp:nvSpPr>
      <dsp:spPr>
        <a:xfrm>
          <a:off x="796224" y="0"/>
          <a:ext cx="8006659" cy="3158676"/>
        </a:xfrm>
        <a:prstGeom prst="right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1E4FBD5-55CC-4A0A-9DCD-E73D892CB179}">
      <dsp:nvSpPr>
        <dsp:cNvPr id="0" name=""/>
        <dsp:cNvSpPr/>
      </dsp:nvSpPr>
      <dsp:spPr>
        <a:xfrm>
          <a:off x="2080" y="947602"/>
          <a:ext cx="1268058" cy="126347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TW" altLang="en-US" sz="1500" b="1" kern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簡章公告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TW" altLang="en-US" sz="1500" b="1" kern="1200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辦說明會</a:t>
          </a:r>
          <a:endParaRPr lang="en-US" altLang="zh-TW" sz="1500" b="1" kern="1200" dirty="0">
            <a:solidFill>
              <a:srgbClr val="0000FF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TW" altLang="en-US" sz="15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學生報名</a:t>
          </a:r>
        </a:p>
      </dsp:txBody>
      <dsp:txXfrm>
        <a:off x="63758" y="1009280"/>
        <a:ext cx="1144702" cy="1140114"/>
      </dsp:txXfrm>
    </dsp:sp>
    <dsp:sp modelId="{14CCFB7D-306B-4F88-B518-93F42C0D41D0}">
      <dsp:nvSpPr>
        <dsp:cNvPr id="0" name=""/>
        <dsp:cNvSpPr/>
      </dsp:nvSpPr>
      <dsp:spPr>
        <a:xfrm>
          <a:off x="1481481" y="947602"/>
          <a:ext cx="1478822" cy="1263470"/>
        </a:xfrm>
        <a:prstGeom prst="roundRect">
          <a:avLst/>
        </a:prstGeom>
        <a:gradFill rotWithShape="0">
          <a:gsLst>
            <a:gs pos="0">
              <a:schemeClr val="accent5">
                <a:hueOff val="-1351709"/>
                <a:satOff val="-3484"/>
                <a:lumOff val="-2353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1351709"/>
                <a:satOff val="-3484"/>
                <a:lumOff val="-2353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1351709"/>
                <a:satOff val="-3484"/>
                <a:lumOff val="-2353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TW" altLang="en-US" sz="1800" b="1" kern="1200">
              <a:latin typeface="微軟正黑體" panose="020B0604030504040204" pitchFamily="34" charset="-120"/>
              <a:ea typeface="微軟正黑體" panose="020B0604030504040204" pitchFamily="34" charset="-120"/>
            </a:rPr>
            <a:t>書審  面試</a:t>
          </a:r>
        </a:p>
      </dsp:txBody>
      <dsp:txXfrm>
        <a:off x="1543159" y="1009280"/>
        <a:ext cx="1355466" cy="1140114"/>
      </dsp:txXfrm>
    </dsp:sp>
    <dsp:sp modelId="{21549CCE-DB3C-46CC-A461-3EA5ACEF0A83}">
      <dsp:nvSpPr>
        <dsp:cNvPr id="0" name=""/>
        <dsp:cNvSpPr/>
      </dsp:nvSpPr>
      <dsp:spPr>
        <a:xfrm>
          <a:off x="3171646" y="947602"/>
          <a:ext cx="1523635" cy="1263470"/>
        </a:xfrm>
        <a:prstGeom prst="roundRect">
          <a:avLst/>
        </a:prstGeom>
        <a:gradFill rotWithShape="0">
          <a:gsLst>
            <a:gs pos="0">
              <a:schemeClr val="accent5">
                <a:hueOff val="-2703417"/>
                <a:satOff val="-6968"/>
                <a:lumOff val="-4706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2703417"/>
                <a:satOff val="-6968"/>
                <a:lumOff val="-4706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2703417"/>
                <a:satOff val="-6968"/>
                <a:lumOff val="-4706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TW" altLang="en-US" sz="1600" b="1" kern="1200">
              <a:latin typeface="微軟正黑體" panose="020B0604030504040204" pitchFamily="34" charset="-120"/>
              <a:ea typeface="微軟正黑體" panose="020B0604030504040204" pitchFamily="34" charset="-120"/>
            </a:rPr>
            <a:t>志願序</a:t>
          </a:r>
          <a:r>
            <a:rPr lang="zh-TW" altLang="en-US" sz="1500" b="1" kern="1200">
              <a:latin typeface="微軟正黑體" panose="020B0604030504040204" pitchFamily="34" charset="-120"/>
              <a:ea typeface="微軟正黑體" panose="020B0604030504040204" pitchFamily="34" charset="-120"/>
            </a:rPr>
            <a:t>繳交</a:t>
          </a:r>
          <a:endParaRPr lang="en-US" altLang="zh-TW" sz="1500" b="1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TW" altLang="en-US" sz="1500" b="1" kern="1200">
              <a:latin typeface="微軟正黑體" panose="020B0604030504040204" pitchFamily="34" charset="-120"/>
              <a:ea typeface="微軟正黑體" panose="020B0604030504040204" pitchFamily="34" charset="-120"/>
            </a:rPr>
            <a:t>甄選</a:t>
          </a:r>
          <a:r>
            <a:rPr lang="zh-TW" altLang="en-US" sz="1600" b="1" kern="1200">
              <a:latin typeface="微軟正黑體" panose="020B0604030504040204" pitchFamily="34" charset="-120"/>
              <a:ea typeface="微軟正黑體" panose="020B0604030504040204" pitchFamily="34" charset="-120"/>
            </a:rPr>
            <a:t>結果公告</a:t>
          </a:r>
          <a:endParaRPr lang="zh-TW" altLang="en-US" sz="1500" b="1" kern="120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3233324" y="1009280"/>
        <a:ext cx="1400279" cy="1140114"/>
      </dsp:txXfrm>
    </dsp:sp>
    <dsp:sp modelId="{ABCE3CE2-1693-497B-A27F-BEE737E1D8A7}">
      <dsp:nvSpPr>
        <dsp:cNvPr id="0" name=""/>
        <dsp:cNvSpPr/>
      </dsp:nvSpPr>
      <dsp:spPr>
        <a:xfrm>
          <a:off x="4906625" y="947602"/>
          <a:ext cx="1460701" cy="1263470"/>
        </a:xfrm>
        <a:prstGeom prst="roundRect">
          <a:avLst/>
        </a:prstGeom>
        <a:gradFill rotWithShape="0">
          <a:gsLst>
            <a:gs pos="0">
              <a:schemeClr val="accent5">
                <a:hueOff val="-4055126"/>
                <a:satOff val="-10451"/>
                <a:lumOff val="-7059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4055126"/>
                <a:satOff val="-10451"/>
                <a:lumOff val="-7059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4055126"/>
                <a:satOff val="-10451"/>
                <a:lumOff val="-7059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TW" altLang="en-US" sz="1500" b="1" kern="1200">
              <a:latin typeface="微軟正黑體" panose="020B0604030504040204" pitchFamily="34" charset="-120"/>
              <a:ea typeface="微軟正黑體" panose="020B0604030504040204" pitchFamily="34" charset="-120"/>
            </a:rPr>
            <a:t>交薦送表</a:t>
          </a:r>
          <a:endParaRPr lang="en-US" altLang="zh-TW" sz="1500" b="1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TW" altLang="en-US" sz="1500" b="1" kern="1200">
              <a:latin typeface="微軟正黑體" panose="020B0604030504040204" pitchFamily="34" charset="-120"/>
              <a:ea typeface="微軟正黑體" panose="020B0604030504040204" pitchFamily="34" charset="-120"/>
            </a:rPr>
            <a:t>向姐妹校</a:t>
          </a:r>
          <a:br>
            <a:rPr lang="en-US" altLang="zh-TW" sz="15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1500" b="1" kern="1200">
              <a:latin typeface="微軟正黑體" panose="020B0604030504040204" pitchFamily="34" charset="-120"/>
              <a:ea typeface="微軟正黑體" panose="020B0604030504040204" pitchFamily="34" charset="-120"/>
            </a:rPr>
            <a:t>薦送學生</a:t>
          </a:r>
          <a:endParaRPr lang="en-US" altLang="zh-TW" sz="1500" b="1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TW" altLang="en-US" sz="1500" b="1" kern="1200">
              <a:latin typeface="微軟正黑體" panose="020B0604030504040204" pitchFamily="34" charset="-120"/>
              <a:ea typeface="微軟正黑體" panose="020B0604030504040204" pitchFamily="34" charset="-120"/>
            </a:rPr>
            <a:t>確認薦送結果</a:t>
          </a:r>
        </a:p>
      </dsp:txBody>
      <dsp:txXfrm>
        <a:off x="4968303" y="1009280"/>
        <a:ext cx="1337345" cy="1140114"/>
      </dsp:txXfrm>
    </dsp:sp>
    <dsp:sp modelId="{66C2C5BE-CCE7-47D6-A009-F3080EE6D979}">
      <dsp:nvSpPr>
        <dsp:cNvPr id="0" name=""/>
        <dsp:cNvSpPr/>
      </dsp:nvSpPr>
      <dsp:spPr>
        <a:xfrm>
          <a:off x="6578670" y="947602"/>
          <a:ext cx="1268058" cy="1263470"/>
        </a:xfrm>
        <a:prstGeom prst="roundRect">
          <a:avLst/>
        </a:prstGeom>
        <a:gradFill rotWithShape="0">
          <a:gsLst>
            <a:gs pos="0">
              <a:schemeClr val="accent5">
                <a:hueOff val="-5406834"/>
                <a:satOff val="-13935"/>
                <a:lumOff val="-9412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5406834"/>
                <a:satOff val="-13935"/>
                <a:lumOff val="-9412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5406834"/>
                <a:satOff val="-13935"/>
                <a:lumOff val="-9412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TW" altLang="en-US" sz="1500" b="1" kern="1200">
              <a:latin typeface="微軟正黑體" panose="020B0604030504040204" pitchFamily="34" charset="-120"/>
              <a:ea typeface="微軟正黑體" panose="020B0604030504040204" pitchFamily="34" charset="-120"/>
            </a:rPr>
            <a:t>學生交申請資料</a:t>
          </a:r>
          <a:r>
            <a:rPr lang="en-US" altLang="zh-TW" sz="15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(</a:t>
          </a:r>
          <a:r>
            <a:rPr lang="zh-TW" altLang="en-US" sz="1500" b="1" kern="1200">
              <a:latin typeface="微軟正黑體" panose="020B0604030504040204" pitchFamily="34" charset="-120"/>
              <a:ea typeface="微軟正黑體" panose="020B0604030504040204" pitchFamily="34" charset="-120"/>
            </a:rPr>
            <a:t>含體檢等</a:t>
          </a:r>
          <a:r>
            <a:rPr lang="en-US" altLang="zh-TW" sz="15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)</a:t>
          </a:r>
          <a:r>
            <a:rPr lang="zh-TW" altLang="en-US" sz="1500" b="1" kern="1200">
              <a:latin typeface="微軟正黑體" panose="020B0604030504040204" pitchFamily="34" charset="-120"/>
              <a:ea typeface="微軟正黑體" panose="020B0604030504040204" pitchFamily="34" charset="-120"/>
            </a:rPr>
            <a:t>給姐妹校</a:t>
          </a:r>
        </a:p>
      </dsp:txBody>
      <dsp:txXfrm>
        <a:off x="6640348" y="1009280"/>
        <a:ext cx="1144702" cy="1140114"/>
      </dsp:txXfrm>
    </dsp:sp>
    <dsp:sp modelId="{14D84AAA-9106-4277-84BC-DD2962A11A77}">
      <dsp:nvSpPr>
        <dsp:cNvPr id="0" name=""/>
        <dsp:cNvSpPr/>
      </dsp:nvSpPr>
      <dsp:spPr>
        <a:xfrm>
          <a:off x="8058071" y="947602"/>
          <a:ext cx="1359447" cy="126347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TW" altLang="en-US" sz="15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交實習成績</a:t>
          </a:r>
          <a:br>
            <a:rPr lang="en-US" altLang="zh-TW" sz="15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15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心得報告</a:t>
          </a:r>
          <a:r>
            <a:rPr lang="en-US" altLang="zh-TW" sz="15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+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TW" altLang="en-US" sz="15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照片</a:t>
          </a:r>
        </a:p>
      </dsp:txBody>
      <dsp:txXfrm>
        <a:off x="8119749" y="1009280"/>
        <a:ext cx="1236091" cy="11401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54552F-0BE6-4267-8E0B-84C764044DBF}" type="datetimeFigureOut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A3DAE5-55A3-4A11-8BE2-ACD25699F4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6347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33FB8C-801F-439A-899A-A636F2447F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07484F6-D297-49C3-A59B-DB95AD110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537938F-7BBA-4543-9998-B0A44620A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E168E-E7DF-4278-9446-73FA9AD2B788}" type="datetimeFigureOut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EC97F36-D2DC-469A-A336-A40AC78D9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4B4BE83-F636-4524-BA8E-CEAA06DD8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77FC-B534-4819-B7EC-1BBCB741BE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5705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9A70D3-56E7-4F8C-8849-F7F814F32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4681CE-6972-4167-873C-C11D27A8D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3323461-92A3-42F6-B630-8EDAC3F98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E168E-E7DF-4278-9446-73FA9AD2B788}" type="datetimeFigureOut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E1A0E54-3F8B-480A-B13B-C68D7DD9E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916AFDB-5DD3-41D1-AEED-611FD0C99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77FC-B534-4819-B7EC-1BBCB741BE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0821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C52F48-E0DF-47B0-8ACA-8926FC89D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2E17A5E-A032-493B-9AA7-33D6B5E6E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0AA038F-E2E4-43FB-8218-1D676D571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E168E-E7DF-4278-9446-73FA9AD2B788}" type="datetimeFigureOut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68E07EB-4598-45DB-B9FE-E4BC143B0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3EB2F40-83EB-420C-A33D-2478C2C33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77FC-B534-4819-B7EC-1BBCB741BE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7079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D764E2-1CBA-4580-9515-D5B8D36E2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A67432C-E32B-42AA-8423-E7AEAD4B4E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7665B63-252E-4C70-B5BF-AB273885FD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E7862EE-D53D-439C-8323-FF9B59266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E168E-E7DF-4278-9446-73FA9AD2B788}" type="datetimeFigureOut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D49B389-A96F-4828-BE68-7229CC30B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A7E2F5A-332E-4544-8B95-20C289A8B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77FC-B534-4819-B7EC-1BBCB741BE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0262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D0C3C6-52E6-4153-B71F-A9BE69B8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3F033FE-7D39-4C8E-836B-CD428CDBA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A2B923E-DAA8-4335-8487-EB62F2D92E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054C375-754A-4835-A352-E4DFDE6AFD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60B62E6-5C32-4DE2-A768-A21B3099E9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D2E4895-AAA5-45EE-8AF6-3CF583206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E168E-E7DF-4278-9446-73FA9AD2B788}" type="datetimeFigureOut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8154C85-9AB2-4802-BB48-17196EA46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E4F7FC1-9DDB-4BEE-B8D7-A43AC2EA3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77FC-B534-4819-B7EC-1BBCB741BE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0037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51444F-84B1-4D88-A5F0-E7B71F992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D86D449-6C6C-4A17-A83A-E249B7FEC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E168E-E7DF-4278-9446-73FA9AD2B788}" type="datetimeFigureOut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350DBCE-2801-4441-853A-B3AED07F1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1FD70CB-FC18-42F9-AEA4-C81388DAD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77FC-B534-4819-B7EC-1BBCB741BE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1022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20F2EA7-E410-4283-857D-73D753AC2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E168E-E7DF-4278-9446-73FA9AD2B788}" type="datetimeFigureOut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EF8B788-C7CB-499B-B846-EFFBF9DD4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3E97E15-3254-4B47-84B4-40D1A8D86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77FC-B534-4819-B7EC-1BBCB741BE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5326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A9A4D0-7A72-4027-94CD-1FDCB498F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F3ABE7-8029-4999-A4D9-56F7A2A66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EBF0BE2-4BCC-447D-8442-DE31887FF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EE4A705-CE99-4250-8FC6-6F152CE37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E168E-E7DF-4278-9446-73FA9AD2B788}" type="datetimeFigureOut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D08C82F-1205-41D7-9411-8186C4FEF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389291B-2507-4734-9E80-67886CE0B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77FC-B534-4819-B7EC-1BBCB741BE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3272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5BF612-ABFC-4E71-9BA3-74AAC8DD2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0FCFA67-C269-4A08-8650-44767323DB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8EF3C19-9B71-4A21-87F9-EF920D0907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DB10BCA-EE1C-4210-B1CE-40A8CFA6B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E168E-E7DF-4278-9446-73FA9AD2B788}" type="datetimeFigureOut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5CD7214-7BDB-4685-9FB1-E438C61FB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2087ADA-CFE0-46FC-AC62-01F5514D2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77FC-B534-4819-B7EC-1BBCB741BE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2387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F5C9A7-0EBF-4027-BBC7-C3DFA1DD6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1337AE2-3491-4037-A165-6842A02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CE2C591-BAEF-4788-BC36-16B17B5E5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E168E-E7DF-4278-9446-73FA9AD2B788}" type="datetimeFigureOut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BE86B7F-4CA2-4D7A-9101-74EED04A9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2F6CAAC-588C-4E26-BC46-EB66A5B27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77FC-B534-4819-B7EC-1BBCB741BE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089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7D5D0DB-AA52-4F6B-B40D-26FE45C2D7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2A15D05-01A0-4E5B-8B39-F5D7552071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2B4E923-8E8E-48DC-87F9-1F4A0A9EA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E168E-E7DF-4278-9446-73FA9AD2B788}" type="datetimeFigureOut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9619459-3902-475A-94E4-677F576BE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C153BA8-E02A-440F-B09F-8CD625803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77FC-B534-4819-B7EC-1BBCB741BE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7129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2A38110-135B-4D8D-9E20-E6200B09C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422752A-BB82-46FC-B526-1D8110B5C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940555B-FDFB-45D8-B748-BF7AFDDE24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FE168E-E7DF-4278-9446-73FA9AD2B788}" type="datetimeFigureOut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F4E138A-956E-4433-BD99-BB9A97C498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5727B90-2E18-4414-BB93-2A4F9E5864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577FC-B534-4819-B7EC-1BBCB741BE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3930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maHdxfaeD4JgLRKm6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s://reurl.cc/Z8Zvd6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maHdxfaeD4JgLRKm6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4">
            <a:extLst>
              <a:ext uri="{FF2B5EF4-FFF2-40B4-BE49-F238E27FC236}">
                <a16:creationId xmlns:a16="http://schemas.microsoft.com/office/drawing/2014/main" id="{49799593-56E3-7985-CF9E-A79F4FE88B1B}"/>
              </a:ext>
            </a:extLst>
          </p:cNvPr>
          <p:cNvSpPr txBox="1"/>
          <p:nvPr/>
        </p:nvSpPr>
        <p:spPr>
          <a:xfrm>
            <a:off x="1410350" y="1636478"/>
            <a:ext cx="9371300" cy="20928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en-US" altLang="zh-TW" sz="60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2027</a:t>
            </a:r>
            <a:r>
              <a:rPr lang="zh-TW" altLang="en-US" sz="60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年</a:t>
            </a:r>
            <a:r>
              <a:rPr lang="en-US" altLang="zh-TW" sz="60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(116</a:t>
            </a:r>
            <a:r>
              <a:rPr lang="zh-TW" altLang="en-US" sz="60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學年度</a:t>
            </a:r>
            <a:r>
              <a:rPr lang="en-US" altLang="zh-TW" sz="60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)</a:t>
            </a:r>
          </a:p>
          <a:p>
            <a:pPr>
              <a:spcAft>
                <a:spcPts val="1200"/>
              </a:spcAft>
            </a:pPr>
            <a:r>
              <a:rPr lang="zh-TW" altLang="en-US" sz="60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醫學生海外實習甄選說明會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55417BC-9521-44C2-8A57-D718450FE6F0}"/>
              </a:ext>
            </a:extLst>
          </p:cNvPr>
          <p:cNvSpPr txBox="1"/>
          <p:nvPr/>
        </p:nvSpPr>
        <p:spPr>
          <a:xfrm>
            <a:off x="4532823" y="4320855"/>
            <a:ext cx="624882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TW" altLang="en-US" sz="3000" dirty="0">
                <a:solidFill>
                  <a:schemeClr val="bg2">
                    <a:lumMod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醫學系 林彥克副系主任　</a:t>
            </a:r>
            <a:r>
              <a:rPr kumimoji="1" lang="en-US" altLang="zh-TW" sz="3000" dirty="0">
                <a:solidFill>
                  <a:schemeClr val="bg2">
                    <a:lumMod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2026.9.9</a:t>
            </a:r>
            <a:endParaRPr kumimoji="1" lang="zh-TW" altLang="en-US" sz="3000" dirty="0">
              <a:solidFill>
                <a:schemeClr val="bg2">
                  <a:lumMod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7044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群組 4">
            <a:extLst>
              <a:ext uri="{FF2B5EF4-FFF2-40B4-BE49-F238E27FC236}">
                <a16:creationId xmlns:a16="http://schemas.microsoft.com/office/drawing/2014/main" id="{ECD5762F-7F70-437F-A665-368AC2782DD9}"/>
              </a:ext>
            </a:extLst>
          </p:cNvPr>
          <p:cNvGrpSpPr/>
          <p:nvPr/>
        </p:nvGrpSpPr>
        <p:grpSpPr>
          <a:xfrm>
            <a:off x="1223622" y="1849662"/>
            <a:ext cx="9744756" cy="3158676"/>
            <a:chOff x="131884" y="1380392"/>
            <a:chExt cx="9308198" cy="3158676"/>
          </a:xfrm>
        </p:grpSpPr>
        <p:graphicFrame>
          <p:nvGraphicFramePr>
            <p:cNvPr id="8" name="資料庫圖表 7">
              <a:extLst>
                <a:ext uri="{FF2B5EF4-FFF2-40B4-BE49-F238E27FC236}">
                  <a16:creationId xmlns:a16="http://schemas.microsoft.com/office/drawing/2014/main" id="{108B4E01-F170-4F73-BABA-BEDD326FF39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760461813"/>
                </p:ext>
              </p:extLst>
            </p:nvPr>
          </p:nvGraphicFramePr>
          <p:xfrm>
            <a:off x="131884" y="1380392"/>
            <a:ext cx="8997608" cy="315867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2652CB07-BF1B-4085-992C-0176F26BC542}"/>
                </a:ext>
              </a:extLst>
            </p:cNvPr>
            <p:cNvSpPr txBox="1"/>
            <p:nvPr/>
          </p:nvSpPr>
          <p:spPr>
            <a:xfrm>
              <a:off x="7408756" y="1380392"/>
              <a:ext cx="203132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TW" altLang="en-US" sz="2400" b="1" dirty="0">
                  <a:latin typeface="+mn-lt"/>
                  <a:ea typeface="微軟正黑體" panose="020B0604030504040204" pitchFamily="34" charset="-120"/>
                  <a:cs typeface="Arial" panose="020B0604020202020204" pitchFamily="34" charset="0"/>
                </a:rPr>
                <a:t>學生</a:t>
              </a:r>
              <a:endParaRPr kumimoji="1" lang="en-US" altLang="zh-TW" sz="2400" b="1" dirty="0">
                <a:latin typeface="+mn-lt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ctr"/>
              <a:r>
                <a:rPr kumimoji="1" lang="zh-TW" altLang="en-US" sz="2400" b="1" dirty="0">
                  <a:latin typeface="+mn-lt"/>
                  <a:ea typeface="微軟正黑體" panose="020B0604030504040204" pitchFamily="34" charset="-120"/>
                  <a:cs typeface="Arial" panose="020B0604020202020204" pitchFamily="34" charset="0"/>
                </a:rPr>
                <a:t>返國後二周內</a:t>
              </a:r>
              <a:endParaRPr kumimoji="1" lang="zh-TW" altLang="en-US" sz="2000" b="1" dirty="0">
                <a:latin typeface="+mn-lt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</p:grpSp>
      <p:sp>
        <p:nvSpPr>
          <p:cNvPr id="15" name="文字方塊 4">
            <a:extLst>
              <a:ext uri="{FF2B5EF4-FFF2-40B4-BE49-F238E27FC236}">
                <a16:creationId xmlns:a16="http://schemas.microsoft.com/office/drawing/2014/main" id="{92019BFB-38C3-493E-AFCC-A2ED8A70AF77}"/>
              </a:ext>
            </a:extLst>
          </p:cNvPr>
          <p:cNvSpPr txBox="1"/>
          <p:nvPr/>
        </p:nvSpPr>
        <p:spPr>
          <a:xfrm>
            <a:off x="838200" y="696722"/>
            <a:ext cx="9371300" cy="707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zh-TW" altLang="en-US" sz="40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醫學生海外實習甄選薦送申請流程</a:t>
            </a:r>
          </a:p>
        </p:txBody>
      </p:sp>
    </p:spTree>
    <p:extLst>
      <p:ext uri="{BB962C8B-B14F-4D97-AF65-F5344CB8AC3E}">
        <p14:creationId xmlns:p14="http://schemas.microsoft.com/office/powerpoint/2010/main" val="2728254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4">
            <a:extLst>
              <a:ext uri="{FF2B5EF4-FFF2-40B4-BE49-F238E27FC236}">
                <a16:creationId xmlns:a16="http://schemas.microsoft.com/office/drawing/2014/main" id="{24C2E5C1-888A-4578-8495-7BAC5F0D8177}"/>
              </a:ext>
            </a:extLst>
          </p:cNvPr>
          <p:cNvSpPr txBox="1"/>
          <p:nvPr/>
        </p:nvSpPr>
        <p:spPr>
          <a:xfrm>
            <a:off x="838200" y="513734"/>
            <a:ext cx="9371300" cy="707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zh-TW" altLang="en-US" sz="40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甄選時程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9571CFD-506C-4F93-9DBF-61BD66BD72FC}"/>
              </a:ext>
            </a:extLst>
          </p:cNvPr>
          <p:cNvSpPr/>
          <p:nvPr/>
        </p:nvSpPr>
        <p:spPr>
          <a:xfrm>
            <a:off x="855079" y="1450619"/>
            <a:ext cx="11078420" cy="50103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【202</a:t>
            </a:r>
            <a:r>
              <a:rPr lang="en-US" altLang="zh-TW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6</a:t>
            </a:r>
            <a:r>
              <a:rPr lang="zh-TW" altLang="en-US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/0</a:t>
            </a:r>
            <a:r>
              <a:rPr lang="en-US" altLang="zh-TW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9</a:t>
            </a:r>
            <a:r>
              <a:rPr lang="zh-TW" altLang="en-US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/</a:t>
            </a:r>
            <a:r>
              <a:rPr lang="en-US" altLang="zh-TW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01</a:t>
            </a:r>
            <a:r>
              <a:rPr lang="zh-TW" altLang="en-US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】</a:t>
            </a:r>
            <a:r>
              <a:rPr lang="zh-TW" altLang="en-US" sz="2400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簡章公告並開放甄選報名</a:t>
            </a:r>
            <a:endParaRPr lang="en-US" altLang="zh-TW" sz="2400" dirty="0">
              <a:latin typeface="Arial" panose="020B0604020202020204" pitchFamily="34" charset="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TW" altLang="en-US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甄選報名資料上傳連結：</a:t>
            </a:r>
            <a:r>
              <a:rPr lang="en-US" altLang="zh-TW" sz="2400" b="1" i="0" u="none" strike="noStrike" dirty="0">
                <a:solidFill>
                  <a:srgbClr val="CC0033"/>
                </a:solidFill>
                <a:effectLst/>
                <a:latin typeface="arial" panose="020B0604020202020204" pitchFamily="34" charset="0"/>
                <a:hlinkClick r:id="rId2"/>
              </a:rPr>
              <a:t>https://forms.gle/maHdxfaeD4JgLRKm6</a:t>
            </a:r>
            <a:r>
              <a:rPr lang="zh-TW" altLang="en-US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【202</a:t>
            </a:r>
            <a:r>
              <a:rPr lang="en-US" altLang="zh-TW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6</a:t>
            </a:r>
            <a:r>
              <a:rPr lang="zh-TW" altLang="en-US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/0</a:t>
            </a:r>
            <a:r>
              <a:rPr lang="en-US" altLang="zh-TW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9</a:t>
            </a:r>
            <a:r>
              <a:rPr lang="zh-TW" altLang="en-US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/0</a:t>
            </a:r>
            <a:r>
              <a:rPr lang="en-US" altLang="zh-TW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9</a:t>
            </a:r>
            <a:r>
              <a:rPr lang="zh-TW" altLang="en-US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12:</a:t>
            </a:r>
            <a:r>
              <a:rPr lang="en-US" altLang="zh-TW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0</a:t>
            </a:r>
            <a:r>
              <a:rPr lang="zh-TW" altLang="en-US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0-13:00】</a:t>
            </a:r>
            <a:r>
              <a:rPr lang="zh-TW" altLang="en-US" sz="2400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醫學生海外實習說明會（簡報會後上傳網頁）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【202</a:t>
            </a:r>
            <a:r>
              <a:rPr lang="en-US" altLang="zh-TW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6</a:t>
            </a:r>
            <a:r>
              <a:rPr lang="zh-TW" altLang="en-US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/09/</a:t>
            </a:r>
            <a:r>
              <a:rPr lang="en-US" altLang="zh-TW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28</a:t>
            </a:r>
            <a:r>
              <a:rPr lang="zh-TW" altLang="en-US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23:59</a:t>
            </a:r>
            <a:r>
              <a:rPr lang="zh-TW" altLang="en-US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】甄選報名截止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【202</a:t>
            </a:r>
            <a:r>
              <a:rPr lang="en-US" altLang="zh-TW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6</a:t>
            </a:r>
            <a:r>
              <a:rPr lang="zh-TW" altLang="en-US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/10/1</a:t>
            </a:r>
            <a:r>
              <a:rPr lang="en-US" altLang="zh-TW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4</a:t>
            </a:r>
            <a:r>
              <a:rPr lang="zh-TW" altLang="en-US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】甄選面試</a:t>
            </a:r>
            <a:r>
              <a:rPr lang="zh-TW" altLang="en-US" sz="2400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（預計中午開始，時間待公告）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【202</a:t>
            </a:r>
            <a:r>
              <a:rPr lang="en-US" altLang="zh-TW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6</a:t>
            </a:r>
            <a:r>
              <a:rPr lang="zh-TW" altLang="en-US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/10/</a:t>
            </a:r>
            <a:r>
              <a:rPr lang="en-US" altLang="zh-TW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28</a:t>
            </a:r>
            <a:r>
              <a:rPr lang="zh-TW" altLang="en-US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】</a:t>
            </a:r>
            <a:r>
              <a:rPr lang="zh-TW" altLang="en-US" sz="2400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甄選排名公告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【202</a:t>
            </a:r>
            <a:r>
              <a:rPr lang="en-US" altLang="zh-TW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6</a:t>
            </a:r>
            <a:r>
              <a:rPr lang="zh-TW" altLang="en-US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/1</a:t>
            </a:r>
            <a:r>
              <a:rPr lang="en-US" altLang="zh-TW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1</a:t>
            </a:r>
            <a:r>
              <a:rPr lang="zh-TW" altLang="en-US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/</a:t>
            </a:r>
            <a:r>
              <a:rPr lang="en-US" altLang="zh-TW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0</a:t>
            </a:r>
            <a:r>
              <a:rPr lang="zh-TW" altLang="en-US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4】</a:t>
            </a:r>
            <a:r>
              <a:rPr lang="zh-TW" altLang="en-US" sz="2400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繳交志願序截止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【202</a:t>
            </a:r>
            <a:r>
              <a:rPr lang="en-US" altLang="zh-TW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6</a:t>
            </a:r>
            <a:r>
              <a:rPr lang="zh-TW" altLang="en-US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/1</a:t>
            </a:r>
            <a:r>
              <a:rPr lang="en-US" altLang="zh-TW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1</a:t>
            </a:r>
            <a:r>
              <a:rPr lang="zh-TW" altLang="en-US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/</a:t>
            </a:r>
            <a:r>
              <a:rPr lang="en-US" altLang="zh-TW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10</a:t>
            </a:r>
            <a:r>
              <a:rPr lang="zh-TW" altLang="en-US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】</a:t>
            </a:r>
            <a:r>
              <a:rPr lang="zh-TW" altLang="en-US" sz="2400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錄取結果公告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【預計202</a:t>
            </a:r>
            <a:r>
              <a:rPr lang="en-US" altLang="zh-TW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6</a:t>
            </a:r>
            <a:r>
              <a:rPr lang="zh-TW" altLang="en-US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/12月中前】同學若甄選後欲放棄外放資格，需繳交放棄聲明書</a:t>
            </a:r>
          </a:p>
        </p:txBody>
      </p:sp>
    </p:spTree>
    <p:extLst>
      <p:ext uri="{BB962C8B-B14F-4D97-AF65-F5344CB8AC3E}">
        <p14:creationId xmlns:p14="http://schemas.microsoft.com/office/powerpoint/2010/main" val="642140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群組 22">
            <a:extLst>
              <a:ext uri="{FF2B5EF4-FFF2-40B4-BE49-F238E27FC236}">
                <a16:creationId xmlns:a16="http://schemas.microsoft.com/office/drawing/2014/main" id="{F0A13C10-919C-4B5B-8C04-F8A726D62DA6}"/>
              </a:ext>
            </a:extLst>
          </p:cNvPr>
          <p:cNvGrpSpPr/>
          <p:nvPr/>
        </p:nvGrpSpPr>
        <p:grpSpPr>
          <a:xfrm>
            <a:off x="203760" y="1275630"/>
            <a:ext cx="11784480" cy="5447645"/>
            <a:chOff x="305920" y="1151453"/>
            <a:chExt cx="11580160" cy="5447645"/>
          </a:xfrm>
        </p:grpSpPr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2229F07D-002B-450E-AD4E-0F675B5D5A38}"/>
                </a:ext>
              </a:extLst>
            </p:cNvPr>
            <p:cNvSpPr txBox="1"/>
            <p:nvPr/>
          </p:nvSpPr>
          <p:spPr>
            <a:xfrm>
              <a:off x="305920" y="1151453"/>
              <a:ext cx="11580160" cy="54476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spcAft>
                  <a:spcPts val="1200"/>
                </a:spcAft>
                <a:buFont typeface="Wingdings" panose="05000000000000000000" pitchFamily="2" charset="2"/>
                <a:buChar char="l"/>
              </a:pPr>
              <a:r>
                <a:rPr lang="zh-TW" altLang="zh-TW" sz="2400" b="1" kern="1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【</a:t>
              </a:r>
              <a:r>
                <a:rPr lang="en-US" altLang="zh-TW" sz="2400" b="1" kern="1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2027</a:t>
              </a:r>
              <a:r>
                <a:rPr lang="zh-TW" altLang="zh-TW" sz="2400" b="1" kern="1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年</a:t>
              </a:r>
              <a:r>
                <a:rPr lang="en-US" altLang="zh-TW" sz="2400" b="1" kern="100" dirty="0">
                  <a:solidFill>
                    <a:srgbClr val="000000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(116</a:t>
              </a:r>
              <a:r>
                <a:rPr lang="zh-TW" altLang="en-US" sz="2400" b="1" kern="100" dirty="0">
                  <a:solidFill>
                    <a:srgbClr val="000000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學年度</a:t>
              </a:r>
              <a:r>
                <a:rPr lang="en-US" altLang="zh-TW" sz="2400" b="1" kern="100" dirty="0">
                  <a:solidFill>
                    <a:srgbClr val="000000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)</a:t>
              </a:r>
              <a:r>
                <a:rPr lang="zh-TW" altLang="en-US" sz="2400" b="1" kern="1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醫學生</a:t>
              </a:r>
              <a:r>
                <a:rPr lang="zh-TW" altLang="zh-TW" sz="2400" b="1" kern="1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海外</a:t>
              </a:r>
              <a:r>
                <a:rPr lang="zh-TW" altLang="en-US" sz="2400" b="1" kern="1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實習甄選</a:t>
              </a:r>
              <a:r>
                <a:rPr lang="zh-TW" altLang="zh-TW" sz="2400" b="1" kern="1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】，為</a:t>
              </a:r>
              <a:r>
                <a:rPr lang="zh-TW" altLang="zh-TW" sz="2400" b="1" u="sng" kern="1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醫學系六年級</a:t>
              </a:r>
              <a:r>
                <a:rPr lang="zh-TW" altLang="zh-TW" sz="2400" b="1" kern="1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及</a:t>
              </a:r>
              <a:r>
                <a:rPr lang="zh-TW" altLang="zh-TW" sz="2400" b="1" u="sng" kern="1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後醫學系四年級</a:t>
              </a:r>
              <a:r>
                <a:rPr lang="zh-TW" altLang="en-US" sz="2400" b="1" kern="1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「</a:t>
              </a:r>
              <a:r>
                <a:rPr lang="zh-TW" altLang="zh-TW" sz="2400" b="1" kern="100" dirty="0">
                  <a:effectLst/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校內外實習</a:t>
              </a:r>
              <a:r>
                <a:rPr lang="zh-TW" altLang="en-US" sz="2400" b="1" kern="1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」</a:t>
              </a:r>
              <a:r>
                <a:rPr lang="zh-TW" altLang="zh-TW" sz="2400" b="1" kern="1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之</a:t>
              </a:r>
              <a:r>
                <a:rPr lang="zh-TW" altLang="zh-TW" sz="2400" b="1" kern="100" dirty="0">
                  <a:solidFill>
                    <a:schemeClr val="accent1"/>
                  </a:solidFill>
                  <a:effectLst/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外放自選</a:t>
              </a:r>
              <a:r>
                <a:rPr lang="zh-TW" altLang="en-US" sz="2400" b="1" kern="100" dirty="0">
                  <a:solidFill>
                    <a:schemeClr val="accent1"/>
                  </a:solidFill>
                  <a:effectLst/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 </a:t>
              </a:r>
              <a:r>
                <a:rPr lang="en-US" altLang="zh-TW" sz="2400" b="1" kern="100" dirty="0">
                  <a:solidFill>
                    <a:schemeClr val="accent1"/>
                  </a:solidFill>
                  <a:effectLst/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course</a:t>
              </a:r>
              <a:r>
                <a:rPr lang="zh-TW" altLang="en-US" sz="2400" b="1" kern="100" dirty="0">
                  <a:solidFill>
                    <a:schemeClr val="accent1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 </a:t>
              </a:r>
              <a:r>
                <a:rPr lang="zh-TW" altLang="en-US" sz="2400" b="1" kern="1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選項之一</a:t>
              </a:r>
              <a:r>
                <a:rPr lang="zh-TW" altLang="en-US" sz="2400" b="1" kern="100" dirty="0">
                  <a:solidFill>
                    <a:srgbClr val="000000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。</a:t>
              </a:r>
              <a:endParaRPr lang="en-US" altLang="zh-TW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endParaRPr>
            </a:p>
            <a:p>
              <a:pPr>
                <a:spcAft>
                  <a:spcPts val="1200"/>
                </a:spcAft>
                <a:buClr>
                  <a:srgbClr val="F66B0E"/>
                </a:buClr>
              </a:pPr>
              <a:endParaRPr lang="en-US" altLang="zh-TW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endParaRPr>
            </a:p>
            <a:p>
              <a:pPr>
                <a:spcAft>
                  <a:spcPts val="1200"/>
                </a:spcAft>
                <a:buClr>
                  <a:srgbClr val="F66B0E"/>
                </a:buClr>
              </a:pPr>
              <a:endParaRPr lang="en-US" altLang="zh-TW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endParaRPr>
            </a:p>
            <a:p>
              <a:pPr>
                <a:spcAft>
                  <a:spcPts val="1200"/>
                </a:spcAft>
                <a:buClr>
                  <a:srgbClr val="F66B0E"/>
                </a:buClr>
              </a:pPr>
              <a:endParaRPr lang="en-US" altLang="zh-TW" sz="24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endParaRPr>
            </a:p>
            <a:p>
              <a:pPr>
                <a:spcAft>
                  <a:spcPts val="1200"/>
                </a:spcAft>
                <a:buClr>
                  <a:srgbClr val="F66B0E"/>
                </a:buClr>
              </a:pPr>
              <a:endParaRPr lang="en-US" altLang="zh-TW" sz="24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endParaRPr>
            </a:p>
            <a:p>
              <a:pPr marL="342900" indent="-342900">
                <a:spcAft>
                  <a:spcPts val="1200"/>
                </a:spcAft>
                <a:buFont typeface="Wingdings" panose="05000000000000000000" pitchFamily="2" charset="2"/>
                <a:buChar char="l"/>
              </a:pPr>
              <a:r>
                <a:rPr lang="zh-TW" altLang="en-US" sz="2400" b="1" kern="100" dirty="0">
                  <a:solidFill>
                    <a:srgbClr val="000000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實習時間</a:t>
              </a:r>
              <a:r>
                <a:rPr lang="zh-TW" altLang="en-US" sz="2400" b="1" kern="100" dirty="0">
                  <a:solidFill>
                    <a:schemeClr val="accent1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請安排於</a:t>
              </a:r>
              <a:r>
                <a:rPr lang="en-US" altLang="zh-TW" sz="2400" b="1" u="sng" kern="100" dirty="0">
                  <a:solidFill>
                    <a:srgbClr val="FF0066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Clerk 2</a:t>
              </a:r>
              <a:r>
                <a:rPr lang="zh-TW" altLang="en-US" sz="2400" b="1" u="sng" kern="100" dirty="0">
                  <a:solidFill>
                    <a:srgbClr val="FF0066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上學期</a:t>
              </a:r>
              <a:r>
                <a:rPr lang="zh-TW" altLang="en-US" sz="2400" b="1" kern="100" dirty="0">
                  <a:solidFill>
                    <a:srgbClr val="000000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，並</a:t>
              </a:r>
              <a:r>
                <a:rPr lang="zh-TW" altLang="en-US" sz="2400" b="1" kern="100" dirty="0"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依</a:t>
              </a:r>
              <a:r>
                <a:rPr lang="en-US" altLang="zh-TW" sz="2400" b="1" kern="100" dirty="0"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Clerk2</a:t>
              </a:r>
              <a:r>
                <a:rPr lang="zh-TW" altLang="en-US" sz="2400" b="1" kern="100" dirty="0"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組別</a:t>
              </a:r>
              <a:r>
                <a:rPr lang="zh-TW" altLang="en-US" sz="2400" b="1" u="sng" kern="100" dirty="0">
                  <a:solidFill>
                    <a:srgbClr val="FF0066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原自選外放梯次</a:t>
              </a:r>
              <a:r>
                <a:rPr lang="zh-TW" altLang="en-US" sz="2400" b="1" kern="100" dirty="0"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進行安排及申請，</a:t>
              </a:r>
              <a:r>
                <a:rPr lang="zh-TW" altLang="en-US" sz="2400" b="1" u="sng" kern="100" dirty="0">
                  <a:solidFill>
                    <a:srgbClr val="FF0066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不可跨梯次</a:t>
              </a:r>
              <a:r>
                <a:rPr lang="zh-TW" altLang="en-US" sz="2400" b="1" kern="100" dirty="0"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、</a:t>
              </a:r>
              <a:r>
                <a:rPr lang="zh-TW" altLang="en-US" sz="2400" b="1" u="sng" kern="100" dirty="0">
                  <a:solidFill>
                    <a:srgbClr val="FF0066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不可排姐妹校放假期間</a:t>
              </a:r>
              <a:r>
                <a:rPr lang="zh-TW" altLang="en-US" sz="2400" b="1" kern="100" dirty="0">
                  <a:solidFill>
                    <a:srgbClr val="00B050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 </a:t>
              </a:r>
              <a:r>
                <a:rPr lang="en-US" altLang="zh-TW" b="1" kern="100" dirty="0">
                  <a:solidFill>
                    <a:schemeClr val="accent1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(</a:t>
              </a:r>
              <a:r>
                <a:rPr lang="zh-TW" altLang="en-US" b="1" kern="100" dirty="0">
                  <a:solidFill>
                    <a:schemeClr val="accent1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如：姐妹校放中秋假期、黃金周、復活節、聖誕節</a:t>
              </a:r>
              <a:r>
                <a:rPr lang="en-US" altLang="zh-TW" b="1" kern="100" dirty="0">
                  <a:solidFill>
                    <a:schemeClr val="accent1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)</a:t>
              </a:r>
              <a:r>
                <a:rPr lang="zh-TW" altLang="en-US" sz="2400" b="1" kern="100" dirty="0">
                  <a:solidFill>
                    <a:schemeClr val="accent1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，留意姐妹校</a:t>
              </a:r>
              <a:r>
                <a:rPr lang="en-US" altLang="zh-TW" sz="2400" b="1" kern="100" dirty="0">
                  <a:solidFill>
                    <a:schemeClr val="accent1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orientation</a:t>
              </a:r>
              <a:r>
                <a:rPr lang="zh-TW" altLang="en-US" sz="2400" b="1" kern="100" dirty="0">
                  <a:solidFill>
                    <a:schemeClr val="accent1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開始時間，</a:t>
              </a:r>
              <a:r>
                <a:rPr lang="en-US" altLang="zh-TW" sz="2400" b="1" kern="100" dirty="0">
                  <a:solidFill>
                    <a:srgbClr val="FF0066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(</a:t>
              </a:r>
              <a:r>
                <a:rPr lang="zh-TW" altLang="en-US" sz="2400" b="1" u="sng" kern="100" dirty="0">
                  <a:solidFill>
                    <a:srgbClr val="FF0066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若須請假</a:t>
              </a:r>
              <a:r>
                <a:rPr lang="en-US" altLang="zh-TW" sz="2400" b="1" u="sng" kern="100" dirty="0">
                  <a:solidFill>
                    <a:srgbClr val="FF0066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(</a:t>
              </a:r>
              <a:r>
                <a:rPr lang="zh-TW" altLang="en-US" sz="2400" b="1" u="sng" kern="100" dirty="0">
                  <a:solidFill>
                    <a:srgbClr val="FF0066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即事假</a:t>
              </a:r>
              <a:r>
                <a:rPr lang="en-US" altLang="zh-TW" sz="2400" b="1" u="sng" kern="100" dirty="0">
                  <a:solidFill>
                    <a:srgbClr val="FF0066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)</a:t>
              </a:r>
              <a:r>
                <a:rPr lang="zh-TW" altLang="en-US" sz="2400" b="1" u="sng" kern="100" dirty="0">
                  <a:solidFill>
                    <a:srgbClr val="FF0066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，有可能須延後實習結訓</a:t>
              </a:r>
              <a:r>
                <a:rPr lang="en-US" altLang="zh-TW" sz="2400" b="1" kern="100" dirty="0">
                  <a:solidFill>
                    <a:srgbClr val="FF0066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)</a:t>
              </a:r>
              <a:r>
                <a:rPr lang="zh-TW" altLang="en-US" sz="2400" b="1" kern="100" dirty="0"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。</a:t>
              </a:r>
              <a:br>
                <a:rPr lang="en-US" altLang="zh-TW" sz="2400" b="1" kern="100" dirty="0"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</a:br>
              <a:r>
                <a:rPr lang="zh-TW" altLang="en-US" sz="2400" b="1" kern="100" dirty="0">
                  <a:solidFill>
                    <a:srgbClr val="000000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若外放時間無法與該姐妹校規定吻合，再由臨教部協助調整</a:t>
              </a:r>
              <a:r>
                <a:rPr lang="en-US" altLang="zh-TW" sz="2400" b="1" kern="100" dirty="0">
                  <a:solidFill>
                    <a:srgbClr val="000000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course</a:t>
              </a:r>
              <a:r>
                <a:rPr lang="zh-TW" altLang="en-US" sz="2400" b="1" kern="100" dirty="0">
                  <a:solidFill>
                    <a:srgbClr val="000000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表，若最終仍因故無法外放需取消，則依學校及臨教部安排，前往附院臨床學科或基礎學科實習。</a:t>
              </a:r>
              <a:endParaRPr lang="en-US" altLang="zh-TW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endParaRPr>
            </a:p>
            <a:p>
              <a:pPr marL="342900" indent="-342900">
                <a:spcAft>
                  <a:spcPts val="1200"/>
                </a:spcAft>
                <a:buFont typeface="Wingdings" panose="05000000000000000000" pitchFamily="2" charset="2"/>
                <a:buChar char="l"/>
              </a:pPr>
              <a:r>
                <a:rPr lang="zh-TW" altLang="en-US" sz="2400" b="1" kern="100" dirty="0">
                  <a:solidFill>
                    <a:srgbClr val="000000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申請海外姐妹校實習的學生，</a:t>
              </a:r>
              <a:r>
                <a:rPr lang="zh-TW" altLang="en-US" sz="2400" b="1" u="sng" kern="100" dirty="0">
                  <a:solidFill>
                    <a:schemeClr val="accent1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應義務協助接待</a:t>
              </a:r>
              <a:r>
                <a:rPr lang="zh-TW" altLang="en-US" sz="2400" b="1" kern="100" dirty="0">
                  <a:solidFill>
                    <a:srgbClr val="000000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前來本校實習之海外姐妹校醫學生。</a:t>
              </a:r>
            </a:p>
          </p:txBody>
        </p:sp>
        <p:grpSp>
          <p:nvGrpSpPr>
            <p:cNvPr id="22" name="群組 21">
              <a:extLst>
                <a:ext uri="{FF2B5EF4-FFF2-40B4-BE49-F238E27FC236}">
                  <a16:creationId xmlns:a16="http://schemas.microsoft.com/office/drawing/2014/main" id="{1F194CC1-9786-4F9A-8391-43E0E4F2E4D5}"/>
                </a:ext>
              </a:extLst>
            </p:cNvPr>
            <p:cNvGrpSpPr/>
            <p:nvPr/>
          </p:nvGrpSpPr>
          <p:grpSpPr>
            <a:xfrm>
              <a:off x="718754" y="2077999"/>
              <a:ext cx="11074962" cy="1638084"/>
              <a:chOff x="718754" y="2077999"/>
              <a:chExt cx="11074962" cy="1638084"/>
            </a:xfrm>
          </p:grpSpPr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2E2DEB16-04F7-4AB6-BB95-D18A5FE30DFC}"/>
                  </a:ext>
                </a:extLst>
              </p:cNvPr>
              <p:cNvSpPr txBox="1"/>
              <p:nvPr/>
            </p:nvSpPr>
            <p:spPr>
              <a:xfrm>
                <a:off x="718754" y="2606575"/>
                <a:ext cx="1688363" cy="556368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TW"/>
                </a:defPPr>
                <a:lvl1pPr algn="ctr">
                  <a:defRPr kumimoji="1" sz="3200" b="1">
                    <a:solidFill>
                      <a:sysClr val="windowText" lastClr="00000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zh-TW" altLang="en-US" sz="2000" b="0" dirty="0"/>
                  <a:t>醫學生外放</a:t>
                </a:r>
              </a:p>
            </p:txBody>
          </p:sp>
          <p:cxnSp>
            <p:nvCxnSpPr>
              <p:cNvPr id="7" name="直線接點 6">
                <a:extLst>
                  <a:ext uri="{FF2B5EF4-FFF2-40B4-BE49-F238E27FC236}">
                    <a16:creationId xmlns:a16="http://schemas.microsoft.com/office/drawing/2014/main" id="{E4F408EE-D149-4B43-9766-BE692C8F5F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02276" y="2255884"/>
                <a:ext cx="0" cy="127328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線箭頭接點 14">
                <a:extLst>
                  <a:ext uri="{FF2B5EF4-FFF2-40B4-BE49-F238E27FC236}">
                    <a16:creationId xmlns:a16="http://schemas.microsoft.com/office/drawing/2014/main" id="{439BE0BC-028B-4610-A2E9-21113E6BC5E0}"/>
                  </a:ext>
                </a:extLst>
              </p:cNvPr>
              <p:cNvCxnSpPr/>
              <p:nvPr/>
            </p:nvCxnSpPr>
            <p:spPr>
              <a:xfrm>
                <a:off x="3802276" y="2258654"/>
                <a:ext cx="498764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C826EE37-6867-42A6-ABB3-4ED91C8BA9B3}"/>
                  </a:ext>
                </a:extLst>
              </p:cNvPr>
              <p:cNvSpPr txBox="1"/>
              <p:nvPr/>
            </p:nvSpPr>
            <p:spPr>
              <a:xfrm>
                <a:off x="4362184" y="2077999"/>
                <a:ext cx="2518904" cy="355769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TW"/>
                </a:defPPr>
                <a:lvl1pPr algn="ctr">
                  <a:defRPr kumimoji="1" sz="3200" b="1">
                    <a:solidFill>
                      <a:sysClr val="windowText" lastClr="00000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zh-TW" altLang="en-US" sz="2000" b="0" dirty="0"/>
                  <a:t>國內外院</a:t>
                </a:r>
                <a:r>
                  <a:rPr lang="en-US" altLang="zh-TW" sz="2000" b="0" dirty="0"/>
                  <a:t>/</a:t>
                </a:r>
                <a:r>
                  <a:rPr lang="zh-TW" altLang="en-US" sz="2000" b="0" dirty="0"/>
                  <a:t>附設醫院</a:t>
                </a:r>
              </a:p>
            </p:txBody>
          </p:sp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5479CCF8-2D4C-4749-8E4B-562D41917793}"/>
                  </a:ext>
                </a:extLst>
              </p:cNvPr>
              <p:cNvSpPr txBox="1"/>
              <p:nvPr/>
            </p:nvSpPr>
            <p:spPr>
              <a:xfrm>
                <a:off x="4353666" y="2510947"/>
                <a:ext cx="7440050" cy="739043"/>
              </a:xfrm>
              <a:prstGeom prst="roundRect">
                <a:avLst>
                  <a:gd name="adj" fmla="val 50000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TW"/>
                </a:defPPr>
                <a:lvl1pPr algn="ctr">
                  <a:defRPr kumimoji="1" sz="3200" b="1">
                    <a:solidFill>
                      <a:sysClr val="windowText" lastClr="00000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zh-TW" altLang="en-US" sz="2000" dirty="0">
                    <a:solidFill>
                      <a:srgbClr val="FF0066"/>
                    </a:solidFill>
                    <a:latin typeface="Arial" panose="020B0604020202020204" pitchFamily="34" charset="0"/>
                    <a:ea typeface="微軟正黑體" panose="020B0604030504040204" pitchFamily="34" charset="-120"/>
                    <a:cs typeface="Arial" panose="020B0604020202020204" pitchFamily="34" charset="0"/>
                  </a:rPr>
                  <a:t>連續</a:t>
                </a:r>
                <a:r>
                  <a:rPr lang="en-US" altLang="zh-TW" sz="2000" dirty="0">
                    <a:solidFill>
                      <a:srgbClr val="FF0066"/>
                    </a:solidFill>
                    <a:latin typeface="Arial" panose="020B0604020202020204" pitchFamily="34" charset="0"/>
                    <a:ea typeface="微軟正黑體" panose="020B0604030504040204" pitchFamily="34" charset="-120"/>
                    <a:cs typeface="Arial" panose="020B0604020202020204" pitchFamily="34" charset="0"/>
                  </a:rPr>
                  <a:t>4</a:t>
                </a:r>
                <a:r>
                  <a:rPr lang="zh-TW" altLang="en-US" sz="2000" dirty="0">
                    <a:solidFill>
                      <a:srgbClr val="FF0066"/>
                    </a:solidFill>
                    <a:latin typeface="Arial" panose="020B0604020202020204" pitchFamily="34" charset="0"/>
                    <a:ea typeface="微軟正黑體" panose="020B0604030504040204" pitchFamily="34" charset="-120"/>
                    <a:cs typeface="Arial" panose="020B0604020202020204" pitchFamily="34" charset="0"/>
                  </a:rPr>
                  <a:t>週</a:t>
                </a:r>
                <a:r>
                  <a:rPr lang="en-US" altLang="zh-TW" sz="1600" dirty="0">
                    <a:solidFill>
                      <a:srgbClr val="FF0066"/>
                    </a:solidFill>
                    <a:latin typeface="Arial" panose="020B0604020202020204" pitchFamily="34" charset="0"/>
                    <a:ea typeface="微軟正黑體" panose="020B0604030504040204" pitchFamily="34" charset="-120"/>
                    <a:cs typeface="Arial" panose="020B0604020202020204" pitchFamily="34" charset="0"/>
                  </a:rPr>
                  <a:t>(</a:t>
                </a:r>
                <a:r>
                  <a:rPr lang="zh-TW" altLang="en-US" sz="1600" dirty="0">
                    <a:solidFill>
                      <a:srgbClr val="FF0066"/>
                    </a:solidFill>
                    <a:latin typeface="Arial" panose="020B0604020202020204" pitchFamily="34" charset="0"/>
                    <a:ea typeface="微軟正黑體" panose="020B0604030504040204" pitchFamily="34" charset="-120"/>
                    <a:cs typeface="Arial" panose="020B0604020202020204" pitchFamily="34" charset="0"/>
                  </a:rPr>
                  <a:t>至多</a:t>
                </a:r>
                <a:r>
                  <a:rPr lang="en-US" altLang="zh-TW" sz="1600" dirty="0">
                    <a:solidFill>
                      <a:srgbClr val="FF0066"/>
                    </a:solidFill>
                    <a:latin typeface="Arial" panose="020B0604020202020204" pitchFamily="34" charset="0"/>
                    <a:ea typeface="微軟正黑體" panose="020B0604030504040204" pitchFamily="34" charset="-120"/>
                    <a:cs typeface="Arial" panose="020B0604020202020204" pitchFamily="34" charset="0"/>
                  </a:rPr>
                  <a:t>)</a:t>
                </a:r>
                <a:r>
                  <a:rPr lang="zh-TW" altLang="en-US" sz="2000" dirty="0">
                    <a:solidFill>
                      <a:srgbClr val="FF0066"/>
                    </a:solidFill>
                    <a:latin typeface="Arial" panose="020B0604020202020204" pitchFamily="34" charset="0"/>
                    <a:ea typeface="微軟正黑體" panose="020B0604030504040204" pitchFamily="34" charset="-120"/>
                    <a:cs typeface="Arial" panose="020B0604020202020204" pitchFamily="34" charset="0"/>
                  </a:rPr>
                  <a:t> </a:t>
                </a:r>
                <a:r>
                  <a:rPr lang="zh-TW" altLang="en-US" sz="2000" dirty="0">
                    <a:latin typeface="Arial" panose="020B0604020202020204" pitchFamily="34" charset="0"/>
                    <a:ea typeface="微軟正黑體" panose="020B0604030504040204" pitchFamily="34" charset="-120"/>
                    <a:cs typeface="Arial" panose="020B0604020202020204" pitchFamily="34" charset="0"/>
                  </a:rPr>
                  <a:t>國外姐妹校</a:t>
                </a:r>
                <a:r>
                  <a:rPr lang="en-US" altLang="zh-TW" sz="2000" dirty="0">
                    <a:latin typeface="Arial" panose="020B0604020202020204" pitchFamily="34" charset="0"/>
                    <a:ea typeface="微軟正黑體" panose="020B0604030504040204" pitchFamily="34" charset="-120"/>
                    <a:cs typeface="Arial" panose="020B0604020202020204" pitchFamily="34" charset="0"/>
                  </a:rPr>
                  <a:t>(Bond</a:t>
                </a:r>
                <a:r>
                  <a:rPr lang="zh-TW" altLang="en-US" sz="2000" dirty="0">
                    <a:latin typeface="Arial" panose="020B0604020202020204" pitchFamily="34" charset="0"/>
                    <a:ea typeface="微軟正黑體" panose="020B0604030504040204" pitchFamily="34" charset="-120"/>
                    <a:cs typeface="Arial" panose="020B0604020202020204" pitchFamily="34" charset="0"/>
                  </a:rPr>
                  <a:t>六週除外</a:t>
                </a:r>
                <a:r>
                  <a:rPr lang="en-US" altLang="zh-TW" sz="2000" dirty="0">
                    <a:latin typeface="Arial" panose="020B0604020202020204" pitchFamily="34" charset="0"/>
                    <a:ea typeface="微軟正黑體" panose="020B0604030504040204" pitchFamily="34" charset="-120"/>
                    <a:cs typeface="Arial" panose="020B0604020202020204" pitchFamily="34" charset="0"/>
                  </a:rPr>
                  <a:t>)</a:t>
                </a:r>
                <a:r>
                  <a:rPr lang="en-US" altLang="zh-TW" sz="2600" dirty="0">
                    <a:latin typeface="Arial" panose="020B0604020202020204" pitchFamily="34" charset="0"/>
                    <a:ea typeface="微軟正黑體" panose="020B0604030504040204" pitchFamily="34" charset="-120"/>
                    <a:cs typeface="Arial" panose="020B0604020202020204" pitchFamily="34" charset="0"/>
                  </a:rPr>
                  <a:t>+</a:t>
                </a:r>
              </a:p>
              <a:p>
                <a:pPr algn="l"/>
                <a:r>
                  <a:rPr lang="en-US" altLang="zh-TW" sz="2000" dirty="0">
                    <a:solidFill>
                      <a:srgbClr val="FF0066"/>
                    </a:solidFill>
                    <a:latin typeface="Arial" panose="020B0604020202020204" pitchFamily="34" charset="0"/>
                    <a:ea typeface="微軟正黑體" panose="020B0604030504040204" pitchFamily="34" charset="-120"/>
                    <a:cs typeface="Arial" panose="020B0604020202020204" pitchFamily="34" charset="0"/>
                  </a:rPr>
                  <a:t>2</a:t>
                </a:r>
                <a:r>
                  <a:rPr lang="zh-TW" altLang="en-US" sz="2000" dirty="0">
                    <a:solidFill>
                      <a:srgbClr val="FF0066"/>
                    </a:solidFill>
                    <a:latin typeface="Arial" panose="020B0604020202020204" pitchFamily="34" charset="0"/>
                    <a:ea typeface="微軟正黑體" panose="020B0604030504040204" pitchFamily="34" charset="-120"/>
                    <a:cs typeface="Arial" panose="020B0604020202020204" pitchFamily="34" charset="0"/>
                  </a:rPr>
                  <a:t>週 </a:t>
                </a:r>
                <a:r>
                  <a:rPr lang="zh-TW" altLang="en-US" sz="2000" dirty="0">
                    <a:latin typeface="Arial" panose="020B0604020202020204" pitchFamily="34" charset="0"/>
                    <a:ea typeface="微軟正黑體" panose="020B0604030504040204" pitchFamily="34" charset="-120"/>
                    <a:cs typeface="Arial" panose="020B0604020202020204" pitchFamily="34" charset="0"/>
                  </a:rPr>
                  <a:t>自選附院臨床學科</a:t>
                </a:r>
                <a:r>
                  <a:rPr lang="en-US" altLang="zh-TW" sz="2000" dirty="0">
                    <a:latin typeface="Arial" panose="020B0604020202020204" pitchFamily="34" charset="0"/>
                    <a:ea typeface="微軟正黑體" panose="020B0604030504040204" pitchFamily="34" charset="-120"/>
                    <a:cs typeface="Arial" panose="020B0604020202020204" pitchFamily="34" charset="0"/>
                  </a:rPr>
                  <a:t>/</a:t>
                </a:r>
                <a:r>
                  <a:rPr lang="zh-TW" altLang="en-US" sz="2000" dirty="0">
                    <a:latin typeface="Arial" panose="020B0604020202020204" pitchFamily="34" charset="0"/>
                    <a:ea typeface="微軟正黑體" panose="020B0604030504040204" pitchFamily="34" charset="-120"/>
                    <a:cs typeface="Arial" panose="020B0604020202020204" pitchFamily="34" charset="0"/>
                  </a:rPr>
                  <a:t>學校基礎學科</a:t>
                </a:r>
                <a:r>
                  <a:rPr lang="en-US" altLang="zh-TW" sz="1800" dirty="0">
                    <a:latin typeface="Arial" panose="020B0604020202020204" pitchFamily="34" charset="0"/>
                    <a:ea typeface="微軟正黑體" panose="020B0604030504040204" pitchFamily="34" charset="-120"/>
                    <a:cs typeface="Arial" panose="020B0604020202020204" pitchFamily="34" charset="0"/>
                  </a:rPr>
                  <a:t>(</a:t>
                </a:r>
                <a:r>
                  <a:rPr lang="zh-TW" altLang="en-US" sz="1800" dirty="0">
                    <a:latin typeface="Arial" panose="020B0604020202020204" pitchFamily="34" charset="0"/>
                    <a:ea typeface="微軟正黑體" panose="020B0604030504040204" pitchFamily="34" charset="-120"/>
                    <a:cs typeface="Arial" panose="020B0604020202020204" pitchFamily="34" charset="0"/>
                  </a:rPr>
                  <a:t>視當年度基礎學科開放名額</a:t>
                </a:r>
                <a:r>
                  <a:rPr lang="en-US" altLang="zh-TW" sz="1800" dirty="0">
                    <a:latin typeface="Arial" panose="020B0604020202020204" pitchFamily="34" charset="0"/>
                    <a:ea typeface="微軟正黑體" panose="020B0604030504040204" pitchFamily="34" charset="-120"/>
                    <a:cs typeface="Arial" panose="020B0604020202020204" pitchFamily="34" charset="0"/>
                  </a:rPr>
                  <a:t>)</a:t>
                </a:r>
                <a:endParaRPr lang="zh-TW" altLang="en-US" sz="2000" dirty="0"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</p:txBody>
          </p:sp>
          <p:cxnSp>
            <p:nvCxnSpPr>
              <p:cNvPr id="12" name="直線箭頭接點 21">
                <a:extLst>
                  <a:ext uri="{FF2B5EF4-FFF2-40B4-BE49-F238E27FC236}">
                    <a16:creationId xmlns:a16="http://schemas.microsoft.com/office/drawing/2014/main" id="{33826B8D-CDA5-482D-86C1-CAA73D88CE22}"/>
                  </a:ext>
                </a:extLst>
              </p:cNvPr>
              <p:cNvCxnSpPr/>
              <p:nvPr/>
            </p:nvCxnSpPr>
            <p:spPr>
              <a:xfrm>
                <a:off x="3802276" y="2869054"/>
                <a:ext cx="498764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2BA1CD96-23A4-4E73-ABCE-C61481DA6F0D}"/>
                  </a:ext>
                </a:extLst>
              </p:cNvPr>
              <p:cNvSpPr txBox="1"/>
              <p:nvPr/>
            </p:nvSpPr>
            <p:spPr>
              <a:xfrm>
                <a:off x="2795543" y="2680345"/>
                <a:ext cx="95410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TW" altLang="en-US" sz="2000" b="1" dirty="0">
                    <a:solidFill>
                      <a:schemeClr val="accent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三擇一</a:t>
                </a:r>
              </a:p>
            </p:txBody>
          </p:sp>
          <p:sp>
            <p:nvSpPr>
              <p:cNvPr id="15" name="向左箭號 24">
                <a:extLst>
                  <a:ext uri="{FF2B5EF4-FFF2-40B4-BE49-F238E27FC236}">
                    <a16:creationId xmlns:a16="http://schemas.microsoft.com/office/drawing/2014/main" id="{1D236843-CB6E-45AF-BEE5-5752BEEE0190}"/>
                  </a:ext>
                </a:extLst>
              </p:cNvPr>
              <p:cNvSpPr/>
              <p:nvPr/>
            </p:nvSpPr>
            <p:spPr>
              <a:xfrm rot="10800000">
                <a:off x="2476661" y="2760482"/>
                <a:ext cx="236306" cy="246580"/>
              </a:xfrm>
              <a:prstGeom prst="leftArrow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2000"/>
              </a:p>
            </p:txBody>
          </p:sp>
          <p:cxnSp>
            <p:nvCxnSpPr>
              <p:cNvPr id="19" name="直線箭頭接點 15">
                <a:extLst>
                  <a:ext uri="{FF2B5EF4-FFF2-40B4-BE49-F238E27FC236}">
                    <a16:creationId xmlns:a16="http://schemas.microsoft.com/office/drawing/2014/main" id="{6587023B-9AB9-46F1-8EEB-38EA456E51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02013" y="3529170"/>
                <a:ext cx="498764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ECF10476-0ED9-4A9F-BF51-B63CB1527B1F}"/>
                  </a:ext>
                </a:extLst>
              </p:cNvPr>
              <p:cNvSpPr txBox="1"/>
              <p:nvPr/>
            </p:nvSpPr>
            <p:spPr>
              <a:xfrm>
                <a:off x="4362185" y="3360314"/>
                <a:ext cx="4293311" cy="355769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TW"/>
                </a:defPPr>
                <a:lvl1pPr algn="ctr">
                  <a:defRPr kumimoji="1" sz="3200" b="1">
                    <a:solidFill>
                      <a:sysClr val="windowText" lastClr="00000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zh-TW" altLang="en-US" sz="2000" b="0" dirty="0"/>
                  <a:t>海外義診</a:t>
                </a:r>
                <a:r>
                  <a:rPr lang="en-US" altLang="zh-TW" sz="1600" b="0" dirty="0"/>
                  <a:t>(</a:t>
                </a:r>
                <a:r>
                  <a:rPr lang="zh-TW" altLang="en-US" sz="1600" b="0" dirty="0"/>
                  <a:t>相關資訊由醫學院另發甄選公告</a:t>
                </a:r>
                <a:r>
                  <a:rPr lang="en-US" altLang="zh-TW" sz="1600" b="0" dirty="0"/>
                  <a:t>)</a:t>
                </a:r>
                <a:endParaRPr lang="zh-TW" altLang="en-US" sz="2000" b="0" dirty="0"/>
              </a:p>
            </p:txBody>
          </p:sp>
        </p:grpSp>
      </p:grpSp>
      <p:sp>
        <p:nvSpPr>
          <p:cNvPr id="24" name="文字方塊 4">
            <a:extLst>
              <a:ext uri="{FF2B5EF4-FFF2-40B4-BE49-F238E27FC236}">
                <a16:creationId xmlns:a16="http://schemas.microsoft.com/office/drawing/2014/main" id="{8E9CBFF0-DD7B-4751-95B8-B7AB097C7D9E}"/>
              </a:ext>
            </a:extLst>
          </p:cNvPr>
          <p:cNvSpPr txBox="1"/>
          <p:nvPr/>
        </p:nvSpPr>
        <p:spPr>
          <a:xfrm>
            <a:off x="838200" y="430169"/>
            <a:ext cx="9371300" cy="707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zh-TW" altLang="en-US" sz="40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注意事項</a:t>
            </a:r>
            <a:r>
              <a:rPr lang="en-US" altLang="zh-TW" sz="40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(1/3)</a:t>
            </a:r>
            <a:endParaRPr lang="zh-TW" altLang="en-US" sz="4000" b="1" dirty="0">
              <a:latin typeface="Arial" panose="020B0604020202020204" pitchFamily="34" charset="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117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2229F07D-002B-450E-AD4E-0F675B5D5A38}"/>
              </a:ext>
            </a:extLst>
          </p:cNvPr>
          <p:cNvSpPr txBox="1"/>
          <p:nvPr/>
        </p:nvSpPr>
        <p:spPr>
          <a:xfrm>
            <a:off x="305920" y="1480238"/>
            <a:ext cx="1158016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l"/>
            </a:pPr>
            <a:r>
              <a:rPr lang="zh-TW" altLang="en-US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參加甄選前，請先詳閱網頁公告「三、</a:t>
            </a:r>
            <a:r>
              <a:rPr lang="en-US" altLang="zh-TW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2026</a:t>
            </a:r>
            <a:r>
              <a:rPr lang="zh-TW" altLang="en-US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年姐妹校申請資訊」中各姐妹校的規定，並於醫學院錄取結果公告後，依其規定準備薦送資料。其他未提及之規定（例如保險或住宿安排等），依照姐妹校之最新規定辦理。</a:t>
            </a:r>
            <a:endParaRPr lang="en-US" altLang="zh-TW" sz="2400" b="1" kern="100" dirty="0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l"/>
            </a:pPr>
            <a:r>
              <a:rPr lang="zh-TW" altLang="en-US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各校受理</a:t>
            </a:r>
            <a:r>
              <a:rPr lang="en-US" altLang="zh-TW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/</a:t>
            </a:r>
            <a:r>
              <a:rPr lang="zh-TW" altLang="en-US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錄取與否，仍需視該校決議而定，</a:t>
            </a:r>
            <a:r>
              <a:rPr lang="zh-TW" altLang="en-US" sz="2400" b="1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校內甄選僅為學校薦送國外姐妹校之評選方式</a:t>
            </a:r>
            <a:r>
              <a:rPr lang="zh-TW" altLang="en-US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，並無法確保學生一定會被姐妹校錄取。</a:t>
            </a:r>
            <a:br>
              <a:rPr lang="en-US" altLang="zh-TW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</a:br>
            <a:r>
              <a:rPr lang="zh-TW" altLang="en-US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若同學通過本校甄選後，於申請國外姐妹校時，遇</a:t>
            </a:r>
            <a:r>
              <a:rPr lang="zh-TW" altLang="en-US" sz="2400" b="1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遞件資料不符或未通過對方學校審核</a:t>
            </a:r>
            <a:r>
              <a:rPr lang="zh-TW" altLang="en-US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等（例如面試未通過或缺乏符合的語檢證明等），則須尊重姐妹校的決定，</a:t>
            </a:r>
            <a:r>
              <a:rPr lang="zh-TW" altLang="en-US" sz="2400" b="1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喪失資格</a:t>
            </a:r>
            <a:r>
              <a:rPr lang="zh-TW" altLang="en-US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。</a:t>
            </a:r>
            <a:endParaRPr lang="en-US" altLang="zh-TW" sz="2400" b="1" kern="100" dirty="0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l"/>
            </a:pPr>
            <a:r>
              <a:rPr lang="zh-TW" altLang="en-US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國外姐妹校醫學院訓練</a:t>
            </a:r>
            <a:r>
              <a:rPr lang="zh-TW" altLang="en-US" sz="2400" b="1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甄選錄取結果依同學的「甄選排名」和「志願序」進行分發</a:t>
            </a:r>
            <a:r>
              <a:rPr lang="zh-TW" altLang="en-US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。</a:t>
            </a:r>
            <a:br>
              <a:rPr lang="en-US" altLang="zh-TW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</a:br>
            <a:r>
              <a:rPr lang="zh-TW" altLang="en-US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學生可在繳交志願序前及公告錄取結果後放棄，惟須繳交放棄聲明書掃描檔予所屬學系。</a:t>
            </a:r>
            <a:br>
              <a:rPr lang="en-US" altLang="zh-TW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</a:br>
            <a:r>
              <a:rPr lang="zh-TW" altLang="en-US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公告錄取結果後，若有同學放棄，將不另因缺額進行名額遞補。</a:t>
            </a:r>
            <a:endParaRPr lang="en-US" altLang="zh-TW" sz="2400" b="1" kern="100" dirty="0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24" name="文字方塊 4">
            <a:extLst>
              <a:ext uri="{FF2B5EF4-FFF2-40B4-BE49-F238E27FC236}">
                <a16:creationId xmlns:a16="http://schemas.microsoft.com/office/drawing/2014/main" id="{8E9CBFF0-DD7B-4751-95B8-B7AB097C7D9E}"/>
              </a:ext>
            </a:extLst>
          </p:cNvPr>
          <p:cNvSpPr txBox="1"/>
          <p:nvPr/>
        </p:nvSpPr>
        <p:spPr>
          <a:xfrm>
            <a:off x="810491" y="495261"/>
            <a:ext cx="9371300" cy="707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zh-TW" altLang="en-US" sz="40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注意事項</a:t>
            </a:r>
            <a:r>
              <a:rPr lang="en-US" altLang="zh-TW" sz="40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(2/3)</a:t>
            </a:r>
            <a:endParaRPr lang="zh-TW" altLang="en-US" sz="4000" b="1" dirty="0">
              <a:latin typeface="Arial" panose="020B0604020202020204" pitchFamily="34" charset="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701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2229F07D-002B-450E-AD4E-0F675B5D5A38}"/>
              </a:ext>
            </a:extLst>
          </p:cNvPr>
          <p:cNvSpPr txBox="1"/>
          <p:nvPr/>
        </p:nvSpPr>
        <p:spPr>
          <a:xfrm>
            <a:off x="305920" y="1566952"/>
            <a:ext cx="11580160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l"/>
            </a:pPr>
            <a:r>
              <a:rPr lang="zh-TW" altLang="en-US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依照往例，</a:t>
            </a:r>
            <a:r>
              <a:rPr lang="zh-TW" altLang="en-US" sz="2400" b="1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每學年自</a:t>
            </a:r>
            <a:r>
              <a:rPr lang="en-US" altLang="zh-TW" sz="2400" b="1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12</a:t>
            </a:r>
            <a:r>
              <a:rPr lang="zh-TW" altLang="en-US" sz="2400" b="1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月起至隔年</a:t>
            </a:r>
            <a:r>
              <a:rPr lang="en-US" altLang="zh-TW" sz="2400" b="1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5</a:t>
            </a:r>
            <a:r>
              <a:rPr lang="zh-TW" altLang="en-US" sz="2400" b="1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月將舉辦</a:t>
            </a:r>
            <a:r>
              <a:rPr lang="en-US" altLang="zh-TW" sz="2400" b="1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PGY</a:t>
            </a:r>
            <a:r>
              <a:rPr lang="zh-TW" altLang="en-US" sz="2400" b="1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甄試及</a:t>
            </a:r>
            <a:r>
              <a:rPr lang="en-US" altLang="zh-TW" sz="2400" b="1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OSCE</a:t>
            </a:r>
            <a:r>
              <a:rPr lang="zh-TW" altLang="en-US" sz="2400" b="1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國家考試</a:t>
            </a:r>
            <a:r>
              <a:rPr lang="zh-TW" altLang="en-US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。</a:t>
            </a:r>
            <a:br>
              <a:rPr lang="en-US" altLang="zh-TW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</a:br>
            <a:r>
              <a:rPr lang="zh-TW" altLang="en-US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請安排</a:t>
            </a:r>
            <a:r>
              <a:rPr lang="zh-TW" altLang="en-US" sz="2400" b="1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於</a:t>
            </a:r>
            <a:r>
              <a:rPr lang="en-US" altLang="zh-TW" sz="2400" b="1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Clerk 2</a:t>
            </a:r>
            <a:r>
              <a:rPr lang="zh-TW" altLang="en-US" sz="2400" b="1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上學期</a:t>
            </a:r>
            <a:r>
              <a:rPr lang="zh-TW" altLang="en-US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赴海外姐妹校實習。若堅持於</a:t>
            </a:r>
            <a:r>
              <a:rPr lang="en-US" altLang="zh-TW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Clerk 2</a:t>
            </a:r>
            <a:r>
              <a:rPr lang="zh-TW" altLang="en-US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下學期出國實習，並因此影響畢業或相關甄試</a:t>
            </a:r>
            <a:r>
              <a:rPr lang="en-US" altLang="zh-TW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/</a:t>
            </a:r>
            <a:r>
              <a:rPr lang="zh-TW" altLang="en-US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國考，其結果由學生自行承擔。</a:t>
            </a:r>
            <a:endParaRPr lang="en-US" altLang="zh-TW" sz="2400" b="1" kern="100" dirty="0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l"/>
            </a:pPr>
            <a:r>
              <a:rPr lang="zh-TW" altLang="en-US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訓練返國後，學生須</a:t>
            </a:r>
            <a:r>
              <a:rPr lang="zh-TW" altLang="en-US" sz="2400" b="1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繳交訓練心得電子檔</a:t>
            </a:r>
            <a:r>
              <a:rPr lang="zh-TW" altLang="en-US" sz="2400" b="1" kern="100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及</a:t>
            </a:r>
            <a:r>
              <a:rPr lang="zh-TW" altLang="en-US" sz="2400" b="1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照片</a:t>
            </a:r>
            <a:r>
              <a:rPr lang="en-US" altLang="zh-TW" sz="2400" b="1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3-5</a:t>
            </a:r>
            <a:r>
              <a:rPr lang="zh-TW" altLang="en-US" sz="2400" b="1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張</a:t>
            </a:r>
            <a:r>
              <a:rPr lang="zh-TW" altLang="en-US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至指定雲端資料夾，並</a:t>
            </a:r>
            <a:r>
              <a:rPr lang="zh-TW" altLang="en-US" sz="2400" b="1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填寫學生海外實習問卷調查</a:t>
            </a:r>
            <a:r>
              <a:rPr lang="zh-TW" altLang="en-US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。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l"/>
            </a:pPr>
            <a:r>
              <a:rPr lang="zh-TW" altLang="en-US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若遇不可抗力因素，如疫情、天災或政策改變等，導致實習訓練無法依原訂計畫進行者，一律返回高醫體系原外放科別實習。若該科別無實習容額則由臨教部安排實習科別，不得異議。</a:t>
            </a:r>
            <a:endParaRPr lang="en-US" altLang="zh-TW" sz="2400" b="1" kern="100" dirty="0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l"/>
            </a:pPr>
            <a:r>
              <a:rPr lang="zh-TW" altLang="en-US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其他注意事項，請詳見網頁公告，若有未盡事宜，依系實習委員會相關決議辦理。</a:t>
            </a:r>
            <a:endParaRPr lang="en-US" altLang="zh-TW" sz="2400" b="1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24" name="文字方塊 4">
            <a:extLst>
              <a:ext uri="{FF2B5EF4-FFF2-40B4-BE49-F238E27FC236}">
                <a16:creationId xmlns:a16="http://schemas.microsoft.com/office/drawing/2014/main" id="{8E9CBFF0-DD7B-4751-95B8-B7AB097C7D9E}"/>
              </a:ext>
            </a:extLst>
          </p:cNvPr>
          <p:cNvSpPr txBox="1"/>
          <p:nvPr/>
        </p:nvSpPr>
        <p:spPr>
          <a:xfrm>
            <a:off x="810491" y="476788"/>
            <a:ext cx="9371300" cy="707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zh-TW" altLang="en-US" sz="40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注意事項</a:t>
            </a:r>
            <a:r>
              <a:rPr lang="en-US" altLang="zh-TW" sz="40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(3/3)</a:t>
            </a:r>
            <a:endParaRPr lang="zh-TW" altLang="en-US" sz="4000" b="1" dirty="0">
              <a:latin typeface="Arial" panose="020B0604020202020204" pitchFamily="34" charset="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814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4">
            <a:extLst>
              <a:ext uri="{FF2B5EF4-FFF2-40B4-BE49-F238E27FC236}">
                <a16:creationId xmlns:a16="http://schemas.microsoft.com/office/drawing/2014/main" id="{24C2E5C1-888A-4578-8495-7BAC5F0D8177}"/>
              </a:ext>
            </a:extLst>
          </p:cNvPr>
          <p:cNvSpPr txBox="1"/>
          <p:nvPr/>
        </p:nvSpPr>
        <p:spPr>
          <a:xfrm>
            <a:off x="764198" y="166904"/>
            <a:ext cx="9371300" cy="707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en-US" altLang="zh-TW" sz="40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2027</a:t>
            </a:r>
            <a:r>
              <a:rPr lang="zh-TW" altLang="en-US" sz="40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年姐妹校申請資訊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87959EA-2F1A-474E-9753-D8790798E724}"/>
              </a:ext>
            </a:extLst>
          </p:cNvPr>
          <p:cNvSpPr txBox="1"/>
          <p:nvPr/>
        </p:nvSpPr>
        <p:spPr>
          <a:xfrm>
            <a:off x="338806" y="793857"/>
            <a:ext cx="1158016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TW" altLang="en-US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申請資訊請詳見網頁公告：</a:t>
            </a:r>
            <a:r>
              <a:rPr lang="en-US" altLang="zh-TW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  <a:hlinkClick r:id="rId2"/>
              </a:rPr>
              <a:t>https://reurl.cc/Z8Zvd6</a:t>
            </a:r>
            <a:endParaRPr lang="en-US" altLang="zh-TW" sz="2400" b="1" kern="100" dirty="0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TW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116</a:t>
            </a:r>
            <a:r>
              <a:rPr lang="zh-TW" altLang="en-US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學年甄選對象：醫學系五年級、後醫系三年級</a:t>
            </a:r>
            <a:endParaRPr lang="en-US" altLang="zh-TW" sz="2400" b="1" kern="100" dirty="0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TW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117</a:t>
            </a:r>
            <a:r>
              <a:rPr lang="zh-TW" altLang="en-US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學年度夏威夷大學、科隆大學甄選對象：醫學系四年級、後醫系二年級</a:t>
            </a:r>
            <a:endParaRPr lang="en-US" altLang="zh-TW" sz="2400" b="1" kern="100" dirty="0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75D52222-1322-45E2-A4C7-7B1CDB157E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733020"/>
              </p:ext>
            </p:extLst>
          </p:nvPr>
        </p:nvGraphicFramePr>
        <p:xfrm>
          <a:off x="169403" y="2164350"/>
          <a:ext cx="11853194" cy="44348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445452">
                  <a:extLst>
                    <a:ext uri="{9D8B030D-6E8A-4147-A177-3AD203B41FA5}">
                      <a16:colId xmlns:a16="http://schemas.microsoft.com/office/drawing/2014/main" val="1196666403"/>
                    </a:ext>
                  </a:extLst>
                </a:gridCol>
                <a:gridCol w="4369372">
                  <a:extLst>
                    <a:ext uri="{9D8B030D-6E8A-4147-A177-3AD203B41FA5}">
                      <a16:colId xmlns:a16="http://schemas.microsoft.com/office/drawing/2014/main" val="3899232175"/>
                    </a:ext>
                  </a:extLst>
                </a:gridCol>
                <a:gridCol w="1111774">
                  <a:extLst>
                    <a:ext uri="{9D8B030D-6E8A-4147-A177-3AD203B41FA5}">
                      <a16:colId xmlns:a16="http://schemas.microsoft.com/office/drawing/2014/main" val="2569539598"/>
                    </a:ext>
                  </a:extLst>
                </a:gridCol>
                <a:gridCol w="483567">
                  <a:extLst>
                    <a:ext uri="{9D8B030D-6E8A-4147-A177-3AD203B41FA5}">
                      <a16:colId xmlns:a16="http://schemas.microsoft.com/office/drawing/2014/main" val="1446160824"/>
                    </a:ext>
                  </a:extLst>
                </a:gridCol>
                <a:gridCol w="4140984">
                  <a:extLst>
                    <a:ext uri="{9D8B030D-6E8A-4147-A177-3AD203B41FA5}">
                      <a16:colId xmlns:a16="http://schemas.microsoft.com/office/drawing/2014/main" val="916326549"/>
                    </a:ext>
                  </a:extLst>
                </a:gridCol>
                <a:gridCol w="1302045">
                  <a:extLst>
                    <a:ext uri="{9D8B030D-6E8A-4147-A177-3AD203B41FA5}">
                      <a16:colId xmlns:a16="http://schemas.microsoft.com/office/drawing/2014/main" val="1431360635"/>
                    </a:ext>
                  </a:extLst>
                </a:gridCol>
              </a:tblGrid>
              <a:tr h="25827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No.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姊妹校名稱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開放名額</a:t>
                      </a:r>
                    </a:p>
                  </a:txBody>
                  <a:tcPr anchor="ctr">
                    <a:lnR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No.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姊妹校名稱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開放名額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0107680"/>
                  </a:ext>
                </a:extLst>
              </a:tr>
              <a:tr h="25827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日本京都大學 </a:t>
                      </a:r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Kyoto University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2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11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香港大學 </a:t>
                      </a:r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Hong Kong University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4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8419205"/>
                  </a:ext>
                </a:extLst>
              </a:tr>
              <a:tr h="442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2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日本慶應大學 </a:t>
                      </a:r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Keio University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3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12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新加坡國立大學 </a:t>
                      </a:r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National University of Singapore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4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4270480"/>
                  </a:ext>
                </a:extLst>
              </a:tr>
              <a:tr h="442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3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日本東京醫科大學</a:t>
                      </a:r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Tokyo Medical University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TW" altLang="en-US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TW" altLang="en-US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須同時前往實習</a:t>
                      </a:r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)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13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南洋理工大學</a:t>
                      </a:r>
                    </a:p>
                    <a:p>
                      <a:pPr algn="l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Nanyang Technological University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4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2369394"/>
                  </a:ext>
                </a:extLst>
              </a:tr>
              <a:tr h="25827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4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日本神戶大學 </a:t>
                      </a:r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Kobe University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3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14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澳洲邦德大學 </a:t>
                      </a:r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Bond University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4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5468821"/>
                  </a:ext>
                </a:extLst>
              </a:tr>
              <a:tr h="19127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5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日本德島大學 </a:t>
                      </a:r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Tokushima University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3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15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德國科隆大學 </a:t>
                      </a:r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University of Cologne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TW" altLang="en-US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TW" altLang="en-US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同時段</a:t>
                      </a:r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TW" altLang="en-US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人</a:t>
                      </a:r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)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613119"/>
                  </a:ext>
                </a:extLst>
              </a:tr>
              <a:tr h="25827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6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日本信州大學 </a:t>
                      </a:r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Shinshu University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11</a:t>
                      </a:r>
                      <a:r>
                        <a:rPr lang="zh-TW" altLang="en-US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月公布</a:t>
                      </a:r>
                    </a:p>
                  </a:txBody>
                  <a:tcPr anchor="ctr">
                    <a:lnR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16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美國羅格斯大學 </a:t>
                      </a:r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Rutgers University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2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8863078"/>
                  </a:ext>
                </a:extLst>
              </a:tr>
              <a:tr h="442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7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日本愛媛大學 </a:t>
                      </a:r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Ehime University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TW" altLang="en-US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TW" altLang="en-US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須同時前往實習</a:t>
                      </a:r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)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17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美國梅哈里醫學院 </a:t>
                      </a:r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Meharry Medical College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2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2839280"/>
                  </a:ext>
                </a:extLst>
              </a:tr>
              <a:tr h="442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8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日本藤田醫科大學 </a:t>
                      </a:r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Fujita Health University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2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18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美國希望之城醫學中心 </a:t>
                      </a:r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City of Hope National Medical Center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TW" altLang="en-US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TW" altLang="en-US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每梯次</a:t>
                      </a:r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TW" altLang="en-US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人</a:t>
                      </a:r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)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5565092"/>
                  </a:ext>
                </a:extLst>
              </a:tr>
              <a:tr h="25827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9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韓國首爾大學 </a:t>
                      </a:r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Seoul National University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2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19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美國哈佛醫學院 </a:t>
                      </a:r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Harvard Medical School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6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3439812"/>
                  </a:ext>
                </a:extLst>
              </a:tr>
              <a:tr h="25827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10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韓國亞洲大學 </a:t>
                      </a:r>
                      <a:r>
                        <a:rPr lang="en-US" altLang="zh-TW" sz="1500" b="1" kern="10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Ajou</a:t>
                      </a:r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 University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4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R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20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美國夏威夷大學 </a:t>
                      </a:r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University of Hawaii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1</a:t>
                      </a:r>
                      <a:endParaRPr lang="zh-TW" altLang="en-US" sz="1500" b="1" kern="1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5377339"/>
                  </a:ext>
                </a:extLst>
              </a:tr>
            </a:tbl>
          </a:graphicData>
        </a:graphic>
      </p:graphicFrame>
      <p:grpSp>
        <p:nvGrpSpPr>
          <p:cNvPr id="7" name="群組 6">
            <a:extLst>
              <a:ext uri="{FF2B5EF4-FFF2-40B4-BE49-F238E27FC236}">
                <a16:creationId xmlns:a16="http://schemas.microsoft.com/office/drawing/2014/main" id="{3D65C06A-6A87-40D2-AE58-7B6752F5F1EE}"/>
              </a:ext>
            </a:extLst>
          </p:cNvPr>
          <p:cNvGrpSpPr/>
          <p:nvPr/>
        </p:nvGrpSpPr>
        <p:grpSpPr>
          <a:xfrm>
            <a:off x="10045164" y="176703"/>
            <a:ext cx="1671670" cy="1561682"/>
            <a:chOff x="9952001" y="264879"/>
            <a:chExt cx="1671670" cy="1561682"/>
          </a:xfrm>
        </p:grpSpPr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B4F73EDA-506E-4666-A100-FE534DC09C68}"/>
                </a:ext>
              </a:extLst>
            </p:cNvPr>
            <p:cNvSpPr txBox="1"/>
            <p:nvPr/>
          </p:nvSpPr>
          <p:spPr>
            <a:xfrm>
              <a:off x="9952001" y="264879"/>
              <a:ext cx="167167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TW" altLang="en-US" b="1" dirty="0"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網頁</a:t>
              </a:r>
              <a:r>
                <a:rPr lang="en-US" altLang="zh-TW" b="1" dirty="0"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QR</a:t>
              </a:r>
              <a:r>
                <a:rPr lang="zh-TW" altLang="en-US" b="1" dirty="0"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 </a:t>
              </a:r>
              <a:r>
                <a:rPr lang="en-US" altLang="zh-TW" b="1" dirty="0"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</a:rPr>
                <a:t>Code</a:t>
              </a:r>
              <a:endParaRPr lang="zh-TW" altLang="en-US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endParaRPr>
            </a:p>
          </p:txBody>
        </p:sp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01D4D22A-5E98-4D4F-A8A7-F6AC70752E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117101" y="609023"/>
              <a:ext cx="1217538" cy="12175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39700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2229F07D-002B-450E-AD4E-0F675B5D5A38}"/>
              </a:ext>
            </a:extLst>
          </p:cNvPr>
          <p:cNvSpPr txBox="1"/>
          <p:nvPr/>
        </p:nvSpPr>
        <p:spPr>
          <a:xfrm>
            <a:off x="365396" y="1046131"/>
            <a:ext cx="11461207" cy="5093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l"/>
            </a:pPr>
            <a:r>
              <a:rPr lang="zh-TW" altLang="en-US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全部文件僅需上傳電子檔至</a:t>
            </a:r>
            <a:r>
              <a:rPr lang="en-US" altLang="zh-TW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Google</a:t>
            </a:r>
            <a:r>
              <a:rPr lang="zh-TW" altLang="en-US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表單中，</a:t>
            </a:r>
            <a:r>
              <a:rPr lang="zh-TW" altLang="en-US" sz="2400" b="1" kern="100" dirty="0">
                <a:solidFill>
                  <a:srgbClr val="FF0066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不開放逾期補件</a:t>
            </a:r>
            <a:r>
              <a:rPr lang="zh-TW" altLang="en-US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請標示清楚正確上傳。報名期限內，至學系查驗英檢成績正本。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l"/>
            </a:pPr>
            <a:r>
              <a:rPr lang="zh-TW" altLang="en-US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繳交連結：</a:t>
            </a:r>
            <a:r>
              <a:rPr lang="en-US" altLang="zh-TW" sz="2400" b="1" i="0" u="none" strike="noStrike" dirty="0">
                <a:solidFill>
                  <a:srgbClr val="CC0033"/>
                </a:solidFill>
                <a:effectLst/>
                <a:latin typeface="arial" panose="020B0604020202020204" pitchFamily="34" charset="0"/>
                <a:hlinkClick r:id="rId2"/>
              </a:rPr>
              <a:t>https://forms.gle/maHdxfaeD4JgLRKm6</a:t>
            </a:r>
            <a:endParaRPr lang="en-US" altLang="zh-TW" sz="2400" b="1" kern="100" dirty="0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zh-TW" altLang="en-US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歷年成績單（</a:t>
            </a:r>
            <a:r>
              <a:rPr lang="zh-TW" altLang="en-US" b="1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英文版，須有班排，百分制</a:t>
            </a:r>
            <a:r>
              <a:rPr lang="zh-TW" altLang="en-US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）。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zh-TW" altLang="en-US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五年內英文（語言）檢定成績：英檢成績年限五年，</a:t>
            </a:r>
            <a:r>
              <a:rPr lang="zh-TW" altLang="en-US" b="1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基準日以甄選報名截止日期</a:t>
            </a:r>
            <a:r>
              <a:rPr lang="en-US" altLang="zh-TW" b="1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2026</a:t>
            </a:r>
            <a:r>
              <a:rPr lang="zh-TW" altLang="en-US" b="1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年</a:t>
            </a:r>
            <a:r>
              <a:rPr lang="en-US" altLang="zh-TW" b="1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9</a:t>
            </a:r>
            <a:r>
              <a:rPr lang="zh-TW" altLang="en-US" b="1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月</a:t>
            </a:r>
            <a:r>
              <a:rPr lang="en-US" altLang="zh-TW" b="1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28</a:t>
            </a:r>
            <a:r>
              <a:rPr lang="zh-TW" altLang="en-US" b="1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日為主</a:t>
            </a:r>
            <a:r>
              <a:rPr lang="zh-TW" altLang="en-US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b="1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往前推算</a:t>
            </a:r>
            <a:r>
              <a:rPr lang="zh-TW" altLang="en-US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。英檢成績正本需於報名期間攜至系辦查驗。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zh-TW" altLang="en-US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英文自傳。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zh-TW" altLang="en-US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曾修習過本校</a:t>
            </a:r>
            <a:r>
              <a:rPr lang="en-US" altLang="zh-TW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EMI</a:t>
            </a:r>
            <a:r>
              <a:rPr lang="zh-TW" altLang="en-US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課程證明或參與相關活動（非必要但可加分，</a:t>
            </a:r>
            <a:r>
              <a:rPr lang="zh-TW" altLang="en-US" b="1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請清楚列舉及標示</a:t>
            </a:r>
            <a:r>
              <a:rPr lang="zh-TW" altLang="en-US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：所修讀的</a:t>
            </a:r>
            <a:r>
              <a:rPr lang="en-US" altLang="zh-TW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EMI</a:t>
            </a:r>
            <a:r>
              <a:rPr lang="zh-TW" altLang="en-US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課程、參加的</a:t>
            </a:r>
            <a:r>
              <a:rPr lang="en-US" altLang="zh-TW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EMI</a:t>
            </a:r>
            <a:r>
              <a:rPr lang="zh-TW" altLang="en-US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活動、醫學院學生大使團資格、醫學院學生大使團出團證明、擔任姐妹校學生生活</a:t>
            </a:r>
            <a:r>
              <a:rPr lang="en-US" altLang="zh-TW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Buddy</a:t>
            </a:r>
            <a:r>
              <a:rPr lang="zh-TW" altLang="en-US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證明、修讀醫師科學家學程、英檢聽說讀寫通過</a:t>
            </a:r>
            <a:r>
              <a:rPr lang="en-US" altLang="zh-TW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CEFR B2</a:t>
            </a:r>
            <a:r>
              <a:rPr lang="zh-TW" altLang="en-US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以上等各項事蹟，</a:t>
            </a:r>
            <a:r>
              <a:rPr lang="zh-TW" altLang="en-US" b="1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並檢附相關佐證</a:t>
            </a:r>
            <a:r>
              <a:rPr lang="zh-TW" altLang="en-US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）。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zh-TW" altLang="en-US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第二外語檢定（非必要但可加分）。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zh-TW" altLang="en-US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教師推薦函（非必要但可加分）。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zh-TW" altLang="en-US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其他值得加分事項事蹟等（非必要但可加分；請清楚列舉及標示各項事蹟，並檢附相關佐證）。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zh-TW" altLang="en-US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家長同意書</a:t>
            </a:r>
          </a:p>
        </p:txBody>
      </p:sp>
      <p:sp>
        <p:nvSpPr>
          <p:cNvPr id="24" name="文字方塊 4">
            <a:extLst>
              <a:ext uri="{FF2B5EF4-FFF2-40B4-BE49-F238E27FC236}">
                <a16:creationId xmlns:a16="http://schemas.microsoft.com/office/drawing/2014/main" id="{8E9CBFF0-DD7B-4751-95B8-B7AB097C7D9E}"/>
              </a:ext>
            </a:extLst>
          </p:cNvPr>
          <p:cNvSpPr txBox="1"/>
          <p:nvPr/>
        </p:nvSpPr>
        <p:spPr>
          <a:xfrm>
            <a:off x="810491" y="319773"/>
            <a:ext cx="9371300" cy="707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zh-TW" altLang="en-US" sz="40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校內甄選申請文件</a:t>
            </a:r>
          </a:p>
        </p:txBody>
      </p:sp>
    </p:spTree>
    <p:extLst>
      <p:ext uri="{BB962C8B-B14F-4D97-AF65-F5344CB8AC3E}">
        <p14:creationId xmlns:p14="http://schemas.microsoft.com/office/powerpoint/2010/main" val="1041800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2229F07D-002B-450E-AD4E-0F675B5D5A38}"/>
              </a:ext>
            </a:extLst>
          </p:cNvPr>
          <p:cNvSpPr txBox="1"/>
          <p:nvPr/>
        </p:nvSpPr>
        <p:spPr>
          <a:xfrm>
            <a:off x="365396" y="1150150"/>
            <a:ext cx="1172500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l"/>
            </a:pPr>
            <a:r>
              <a:rPr lang="zh-TW" altLang="en-US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面試及文件審查</a:t>
            </a:r>
            <a:r>
              <a:rPr lang="en-US" altLang="zh-TW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90% + </a:t>
            </a:r>
            <a:r>
              <a:rPr lang="zh-TW" altLang="en-US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參與研究</a:t>
            </a:r>
            <a:r>
              <a:rPr lang="en-US" altLang="zh-TW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10%</a:t>
            </a:r>
            <a:endParaRPr lang="en-US" altLang="zh-TW" sz="2400" b="1" kern="100" dirty="0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l"/>
            </a:pPr>
            <a:r>
              <a:rPr lang="zh-TW" altLang="en-US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甄選結果遇同分時，以「面試及文件審查</a:t>
            </a:r>
            <a:r>
              <a:rPr lang="en-US" altLang="zh-TW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90%</a:t>
            </a:r>
            <a:r>
              <a:rPr lang="zh-TW" altLang="en-US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」中的「面試整體表現」為優先比序。</a:t>
            </a:r>
            <a:endParaRPr lang="en-US" altLang="zh-TW" sz="2400" b="1" kern="100" dirty="0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24" name="文字方塊 4">
            <a:extLst>
              <a:ext uri="{FF2B5EF4-FFF2-40B4-BE49-F238E27FC236}">
                <a16:creationId xmlns:a16="http://schemas.microsoft.com/office/drawing/2014/main" id="{8E9CBFF0-DD7B-4751-95B8-B7AB097C7D9E}"/>
              </a:ext>
            </a:extLst>
          </p:cNvPr>
          <p:cNvSpPr txBox="1"/>
          <p:nvPr/>
        </p:nvSpPr>
        <p:spPr>
          <a:xfrm>
            <a:off x="810490" y="356717"/>
            <a:ext cx="10420927" cy="707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zh-TW" altLang="en-US" sz="40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甄選評分方式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344664B-503D-4037-B1B9-69AA68996A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940" y="2194790"/>
            <a:ext cx="8582025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230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字方塊 4">
            <a:extLst>
              <a:ext uri="{FF2B5EF4-FFF2-40B4-BE49-F238E27FC236}">
                <a16:creationId xmlns:a16="http://schemas.microsoft.com/office/drawing/2014/main" id="{8E9CBFF0-DD7B-4751-95B8-B7AB097C7D9E}"/>
              </a:ext>
            </a:extLst>
          </p:cNvPr>
          <p:cNvSpPr txBox="1"/>
          <p:nvPr/>
        </p:nvSpPr>
        <p:spPr>
          <a:xfrm>
            <a:off x="719137" y="329011"/>
            <a:ext cx="10420927" cy="707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zh-TW" altLang="en-US" sz="40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醫學生海外實習前後</a:t>
            </a:r>
            <a:r>
              <a:rPr lang="en-US" altLang="zh-TW" sz="40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-</a:t>
            </a:r>
            <a:r>
              <a:rPr lang="zh-TW" altLang="en-US" sz="40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其他學生應注意事項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4F5CCD7-6400-4052-BFE9-7D95DFA85D25}"/>
              </a:ext>
            </a:extLst>
          </p:cNvPr>
          <p:cNvSpPr txBox="1"/>
          <p:nvPr/>
        </p:nvSpPr>
        <p:spPr>
          <a:xfrm>
            <a:off x="233497" y="1111956"/>
            <a:ext cx="11725004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l"/>
            </a:pPr>
            <a:r>
              <a:rPr lang="zh-TW" altLang="en-US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依姐妹校規定時程送申請資料，</a:t>
            </a:r>
            <a:r>
              <a:rPr lang="zh-TW" altLang="en-US" sz="2400" b="1" u="sng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與姐妹校信件往來須同時副本學系</a:t>
            </a:r>
            <a:r>
              <a:rPr lang="en-US" altLang="zh-TW" sz="2400" b="1" u="sng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/</a:t>
            </a:r>
            <a:r>
              <a:rPr lang="zh-TW" altLang="en-US" sz="2400" b="1" u="sng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學院</a:t>
            </a:r>
            <a:r>
              <a:rPr lang="en-US" altLang="zh-TW" sz="2400" b="1" u="sng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/</a:t>
            </a:r>
            <a:r>
              <a:rPr lang="zh-TW" altLang="en-US" sz="2400" b="1" u="sng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國際處承辦</a:t>
            </a:r>
            <a:r>
              <a:rPr lang="zh-TW" altLang="en-US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。</a:t>
            </a:r>
            <a:endParaRPr lang="en-US" altLang="zh-TW" sz="2400" b="1" kern="100" dirty="0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l"/>
            </a:pPr>
            <a:r>
              <a:rPr lang="zh-TW" altLang="en-US" sz="2400" b="1" u="sng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至少實習前</a:t>
            </a:r>
            <a:r>
              <a:rPr lang="en-US" altLang="zh-TW" sz="2400" b="1" u="sng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4</a:t>
            </a:r>
            <a:r>
              <a:rPr lang="zh-TW" altLang="en-US" sz="2400" b="1" u="sng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周</a:t>
            </a:r>
            <a:r>
              <a:rPr lang="zh-TW" altLang="en-US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，備妥資料向國際處申請國際研習補助</a:t>
            </a:r>
            <a:r>
              <a:rPr lang="en-US" altLang="zh-TW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(</a:t>
            </a:r>
            <a:r>
              <a:rPr lang="zh-TW" altLang="en-US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依國際處說明</a:t>
            </a:r>
            <a:r>
              <a:rPr lang="en-US" altLang="zh-TW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)</a:t>
            </a:r>
            <a:r>
              <a:rPr lang="zh-TW" altLang="en-US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。</a:t>
            </a:r>
            <a:endParaRPr lang="en-US" altLang="zh-TW" sz="2400" b="1" kern="100" dirty="0">
              <a:solidFill>
                <a:srgbClr val="000000"/>
              </a:solidFill>
              <a:latin typeface="Arial" panose="020B0604020202020204" pitchFamily="34" charset="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l"/>
            </a:pPr>
            <a:r>
              <a:rPr lang="zh-TW" altLang="en-US" sz="2400" b="1" u="sng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返國後</a:t>
            </a:r>
            <a:r>
              <a:rPr lang="en-US" altLang="zh-TW" sz="2400" b="1" u="sng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2</a:t>
            </a:r>
            <a:r>
              <a:rPr lang="zh-TW" altLang="en-US" sz="2400" b="1" u="sng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週內</a:t>
            </a:r>
            <a:r>
              <a:rPr lang="zh-TW" altLang="en-US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2400" b="1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繳交訓練心得電子檔、實習心得</a:t>
            </a:r>
            <a:r>
              <a:rPr lang="zh-TW" altLang="en-US" sz="2400" b="1" kern="100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及</a:t>
            </a:r>
            <a:r>
              <a:rPr lang="zh-TW" altLang="en-US" sz="2400" b="1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照片</a:t>
            </a:r>
            <a:r>
              <a:rPr lang="en-US" altLang="zh-TW" sz="2400" b="1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3-5</a:t>
            </a:r>
            <a:r>
              <a:rPr lang="zh-TW" altLang="en-US" sz="2400" b="1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張</a:t>
            </a:r>
            <a:r>
              <a:rPr lang="zh-TW" altLang="en-US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至指定雲端資料夾，並</a:t>
            </a:r>
            <a:r>
              <a:rPr lang="zh-TW" altLang="en-US" sz="2400" b="1" kern="100" dirty="0">
                <a:solidFill>
                  <a:schemeClr val="accent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填寫學生海外實習問卷調查</a:t>
            </a:r>
            <a:r>
              <a:rPr lang="zh-TW" altLang="en-US" sz="2400" b="1" kern="100" dirty="0">
                <a:solidFill>
                  <a:srgbClr val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。</a:t>
            </a: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5050206A-DE4F-4DAA-912C-EA58C3C7F30C}"/>
              </a:ext>
            </a:extLst>
          </p:cNvPr>
          <p:cNvGrpSpPr/>
          <p:nvPr/>
        </p:nvGrpSpPr>
        <p:grpSpPr>
          <a:xfrm>
            <a:off x="552737" y="2989393"/>
            <a:ext cx="10753725" cy="3571875"/>
            <a:chOff x="552737" y="2989393"/>
            <a:chExt cx="10753725" cy="3571875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2DC1505D-E683-4D8C-9E50-B37481794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2737" y="2989393"/>
              <a:ext cx="10753725" cy="357187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A7D4D878-9FEB-465C-8F73-E43788DC0ECA}"/>
                </a:ext>
              </a:extLst>
            </p:cNvPr>
            <p:cNvSpPr/>
            <p:nvPr/>
          </p:nvSpPr>
          <p:spPr>
            <a:xfrm>
              <a:off x="4436344" y="4493343"/>
              <a:ext cx="2139947" cy="177429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28600" indent="-228600">
                <a:buFont typeface="+mj-lt"/>
                <a:buAutoNum type="arabicPeriod"/>
              </a:pPr>
              <a:r>
                <a:rPr lang="zh-TW" altLang="en-US" sz="1500" b="1" dirty="0">
                  <a:solidFill>
                    <a:srgbClr val="C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學生自行安排機票、住宿、且依姊妹校需求自行加購旅平險、</a:t>
              </a:r>
              <a:r>
                <a:rPr lang="en-US" altLang="zh-TW" sz="1500" b="1" dirty="0">
                  <a:solidFill>
                    <a:srgbClr val="C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Malpractice Insurance(</a:t>
              </a:r>
              <a:r>
                <a:rPr lang="zh-TW" altLang="en-US" sz="1500" b="1" dirty="0">
                  <a:solidFill>
                    <a:srgbClr val="C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醫療過失保險</a:t>
              </a:r>
              <a:r>
                <a:rPr lang="en-US" altLang="zh-TW" sz="1500" b="1" dirty="0">
                  <a:solidFill>
                    <a:srgbClr val="C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r>
                <a:rPr lang="zh-TW" altLang="en-US" sz="1500" b="1" dirty="0">
                  <a:solidFill>
                    <a:srgbClr val="C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等</a:t>
              </a:r>
              <a:endParaRPr lang="en-US" altLang="zh-TW" sz="15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228600" indent="-228600">
                <a:buFont typeface="+mj-lt"/>
                <a:buAutoNum type="arabicPeriod"/>
              </a:pPr>
              <a:r>
                <a:rPr lang="zh-TW" altLang="en-US" sz="1500" b="1" dirty="0">
                  <a:solidFill>
                    <a:srgbClr val="C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準時報到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54117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857</TotalTime>
  <Words>1573</Words>
  <Application>Microsoft Office PowerPoint</Application>
  <PresentationFormat>寬螢幕</PresentationFormat>
  <Paragraphs>142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8" baseType="lpstr">
      <vt:lpstr>微軟正黑體</vt:lpstr>
      <vt:lpstr>微軟正黑體</vt:lpstr>
      <vt:lpstr>Arial</vt:lpstr>
      <vt:lpstr>Arial</vt:lpstr>
      <vt:lpstr>Calibri</vt:lpstr>
      <vt:lpstr>Calibri Light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潘姲蓁</dc:creator>
  <cp:lastModifiedBy>user</cp:lastModifiedBy>
  <cp:revision>46</cp:revision>
  <dcterms:created xsi:type="dcterms:W3CDTF">2025-08-12T05:48:06Z</dcterms:created>
  <dcterms:modified xsi:type="dcterms:W3CDTF">2026-09-10T09:05:06Z</dcterms:modified>
</cp:coreProperties>
</file>